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Helvetica Neue"/>
      <p:regular r:id="rId29"/>
      <p:bold r:id="rId30"/>
      <p:italic r:id="rId31"/>
      <p:boldItalic r:id="rId32"/>
    </p:embeddedFont>
    <p:embeddedFont>
      <p:font typeface="Helvetica Neue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7" roundtripDataSignature="AMtx7mgaOVnJpGrxrq7PNruEXVYBioxA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E2D43B-9A1D-4200-88F0-C5B13CC5D5C5}">
  <a:tblStyle styleId="{6AE2D43B-9A1D-4200-88F0-C5B13CC5D5C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5.xml"/><Relationship Id="rId33" Type="http://schemas.openxmlformats.org/officeDocument/2006/relationships/font" Target="fonts/HelveticaNeueLight-regular.fntdata"/><Relationship Id="rId10" Type="http://schemas.openxmlformats.org/officeDocument/2006/relationships/slide" Target="slides/slide4.xml"/><Relationship Id="rId32" Type="http://schemas.openxmlformats.org/officeDocument/2006/relationships/font" Target="fonts/HelveticaNeue-boldItalic.fntdata"/><Relationship Id="rId13" Type="http://schemas.openxmlformats.org/officeDocument/2006/relationships/slide" Target="slides/slide7.xml"/><Relationship Id="rId35" Type="http://schemas.openxmlformats.org/officeDocument/2006/relationships/font" Target="fonts/HelveticaNeueLight-italic.fntdata"/><Relationship Id="rId12" Type="http://schemas.openxmlformats.org/officeDocument/2006/relationships/slide" Target="slides/slide6.xml"/><Relationship Id="rId34" Type="http://schemas.openxmlformats.org/officeDocument/2006/relationships/font" Target="fonts/HelveticaNeueLight-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0" y="519150"/>
            <a:ext cx="71211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GB" sz="4000">
                <a:latin typeface="Helvetica Neue"/>
                <a:ea typeface="Helvetica Neue"/>
                <a:cs typeface="Helvetica Neue"/>
                <a:sym typeface="Helvetica Neue"/>
              </a:rPr>
              <a:t>Data Analysis in Sociology</a:t>
            </a:r>
            <a:endParaRPr b="1" sz="4000">
              <a:latin typeface="Helvetica Neue"/>
              <a:ea typeface="Helvetica Neue"/>
              <a:cs typeface="Helvetica Neue"/>
              <a:sym typeface="Helvetica Neue"/>
            </a:endParaRPr>
          </a:p>
        </p:txBody>
      </p:sp>
      <p:sp>
        <p:nvSpPr>
          <p:cNvPr id="55" name="Google Shape;55;p1"/>
          <p:cNvSpPr txBox="1"/>
          <p:nvPr>
            <p:ph idx="1" type="subTitle"/>
          </p:nvPr>
        </p:nvSpPr>
        <p:spPr>
          <a:xfrm>
            <a:off x="-3081325" y="25717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294"/>
              <a:buNone/>
            </a:pPr>
            <a:r>
              <a:rPr lang="en-GB">
                <a:latin typeface="Helvetica Neue"/>
                <a:ea typeface="Helvetica Neue"/>
                <a:cs typeface="Helvetica Neue"/>
                <a:sym typeface="Helvetica Neue"/>
              </a:rPr>
              <a:t>  Seminar 3</a:t>
            </a:r>
            <a:endParaRPr>
              <a:latin typeface="Helvetica Neue"/>
              <a:ea typeface="Helvetica Neue"/>
              <a:cs typeface="Helvetica Neue"/>
              <a:sym typeface="Helvetica Neue"/>
            </a:endParaRPr>
          </a:p>
          <a:p>
            <a:pPr indent="0" lvl="0" marL="0" rtl="0" algn="ctr">
              <a:lnSpc>
                <a:spcPct val="100000"/>
              </a:lnSpc>
              <a:spcBef>
                <a:spcPts val="0"/>
              </a:spcBef>
              <a:spcAft>
                <a:spcPts val="0"/>
              </a:spcAft>
              <a:buSzPts val="3294"/>
              <a:buNone/>
            </a:pPr>
            <a:r>
              <a:t/>
            </a:r>
            <a:endParaRPr/>
          </a:p>
        </p:txBody>
      </p:sp>
      <p:sp>
        <p:nvSpPr>
          <p:cNvPr id="56" name="Google Shape;56;p1"/>
          <p:cNvSpPr txBox="1"/>
          <p:nvPr/>
        </p:nvSpPr>
        <p:spPr>
          <a:xfrm>
            <a:off x="239050" y="4230250"/>
            <a:ext cx="3531900" cy="4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2"/>
                </a:solidFill>
                <a:latin typeface="Helvetica Neue"/>
                <a:ea typeface="Helvetica Neue"/>
                <a:cs typeface="Helvetica Neue"/>
                <a:sym typeface="Helvetica Neue"/>
              </a:rPr>
              <a:t>Ilya lyapin</a:t>
            </a:r>
            <a:endParaRPr b="1" i="0" sz="1800" u="none" cap="none" strike="noStrike">
              <a:solidFill>
                <a:schemeClr val="dk2"/>
              </a:solidFill>
              <a:latin typeface="Helvetica Neue"/>
              <a:ea typeface="Helvetica Neue"/>
              <a:cs typeface="Helvetica Neue"/>
              <a:sym typeface="Helvetica Neue"/>
            </a:endParaRPr>
          </a:p>
        </p:txBody>
      </p:sp>
      <p:sp>
        <p:nvSpPr>
          <p:cNvPr id="57" name="Google Shape;57;p1"/>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Quote/event of the week</a:t>
            </a:r>
            <a:endParaRPr b="1">
              <a:latin typeface="Helvetica Neue"/>
              <a:ea typeface="Helvetica Neue"/>
              <a:cs typeface="Helvetica Neue"/>
              <a:sym typeface="Helvetica Neue"/>
            </a:endParaRPr>
          </a:p>
        </p:txBody>
      </p:sp>
      <p:sp>
        <p:nvSpPr>
          <p:cNvPr id="63" name="Google Shape;63;p2"/>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64" name="Google Shape;64;p2"/>
          <p:cNvPicPr preferRelativeResize="0"/>
          <p:nvPr/>
        </p:nvPicPr>
        <p:blipFill>
          <a:blip r:embed="rId3">
            <a:alphaModFix/>
          </a:blip>
          <a:stretch>
            <a:fillRect/>
          </a:stretch>
        </p:blipFill>
        <p:spPr>
          <a:xfrm>
            <a:off x="1767850" y="1296350"/>
            <a:ext cx="5608301" cy="3154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Plan for today</a:t>
            </a:r>
            <a:endParaRPr b="1">
              <a:latin typeface="Helvetica Neue"/>
              <a:ea typeface="Helvetica Neue"/>
              <a:cs typeface="Helvetica Neue"/>
              <a:sym typeface="Helvetica Neue"/>
            </a:endParaRPr>
          </a:p>
        </p:txBody>
      </p:sp>
      <p:pic>
        <p:nvPicPr>
          <p:cNvPr id="70" name="Google Shape;70;p3"/>
          <p:cNvPicPr preferRelativeResize="0"/>
          <p:nvPr/>
        </p:nvPicPr>
        <p:blipFill rotWithShape="1">
          <a:blip r:embed="rId3">
            <a:alphaModFix/>
          </a:blip>
          <a:srcRect b="0" l="0" r="0" t="0"/>
          <a:stretch/>
        </p:blipFill>
        <p:spPr>
          <a:xfrm>
            <a:off x="311699" y="1017725"/>
            <a:ext cx="1043350" cy="3821200"/>
          </a:xfrm>
          <a:prstGeom prst="rect">
            <a:avLst/>
          </a:prstGeom>
          <a:noFill/>
          <a:ln>
            <a:noFill/>
          </a:ln>
        </p:spPr>
      </p:pic>
      <p:sp>
        <p:nvSpPr>
          <p:cNvPr id="71" name="Google Shape;71;p3"/>
          <p:cNvSpPr txBox="1"/>
          <p:nvPr/>
        </p:nvSpPr>
        <p:spPr>
          <a:xfrm>
            <a:off x="1355050" y="2023450"/>
            <a:ext cx="3832500" cy="76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800">
                <a:solidFill>
                  <a:schemeClr val="dk2"/>
                </a:solidFill>
                <a:latin typeface="Helvetica Neue"/>
                <a:ea typeface="Helvetica Neue"/>
                <a:cs typeface="Helvetica Neue"/>
                <a:sym typeface="Helvetica Neue"/>
              </a:rPr>
              <a:t>Multiple l</a:t>
            </a:r>
            <a:r>
              <a:rPr b="0" i="0" lang="en-GB" sz="1800" u="none" cap="none" strike="noStrike">
                <a:solidFill>
                  <a:schemeClr val="dk2"/>
                </a:solidFill>
                <a:latin typeface="Helvetica Neue"/>
                <a:ea typeface="Helvetica Neue"/>
                <a:cs typeface="Helvetica Neue"/>
                <a:sym typeface="Helvetica Neue"/>
              </a:rPr>
              <a:t>inear regression</a:t>
            </a:r>
            <a:endParaRPr b="0" i="0" sz="1800" u="none" cap="none" strike="noStrike">
              <a:solidFill>
                <a:schemeClr val="dk2"/>
              </a:solidFill>
              <a:latin typeface="Helvetica Neue"/>
              <a:ea typeface="Helvetica Neue"/>
              <a:cs typeface="Helvetica Neue"/>
              <a:sym typeface="Helvetica Neue"/>
            </a:endParaRPr>
          </a:p>
        </p:txBody>
      </p:sp>
      <p:sp>
        <p:nvSpPr>
          <p:cNvPr id="72" name="Google Shape;72;p3"/>
          <p:cNvSpPr txBox="1"/>
          <p:nvPr/>
        </p:nvSpPr>
        <p:spPr>
          <a:xfrm>
            <a:off x="1395750" y="1138838"/>
            <a:ext cx="3832500" cy="76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800">
                <a:solidFill>
                  <a:schemeClr val="dk2"/>
                </a:solidFill>
                <a:latin typeface="Helvetica Neue"/>
                <a:ea typeface="Helvetica Neue"/>
                <a:cs typeface="Helvetica Neue"/>
                <a:sym typeface="Helvetica Neue"/>
              </a:rPr>
              <a:t>Simple linear regression</a:t>
            </a:r>
            <a:endParaRPr sz="1800">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2"/>
              </a:solidFill>
              <a:latin typeface="Helvetica Neue"/>
              <a:ea typeface="Helvetica Neue"/>
              <a:cs typeface="Helvetica Neue"/>
              <a:sym typeface="Helvetica Neue"/>
            </a:endParaRPr>
          </a:p>
        </p:txBody>
      </p:sp>
      <p:sp>
        <p:nvSpPr>
          <p:cNvPr id="73" name="Google Shape;73;p3"/>
          <p:cNvSpPr txBox="1"/>
          <p:nvPr/>
        </p:nvSpPr>
        <p:spPr>
          <a:xfrm>
            <a:off x="1395750" y="2977100"/>
            <a:ext cx="3832500" cy="76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Interaction effects</a:t>
            </a:r>
            <a:endParaRPr b="0" i="0" sz="1800" u="none" cap="none" strike="noStrike">
              <a:solidFill>
                <a:schemeClr val="dk2"/>
              </a:solidFill>
              <a:latin typeface="Helvetica Neue"/>
              <a:ea typeface="Helvetica Neue"/>
              <a:cs typeface="Helvetica Neue"/>
              <a:sym typeface="Helvetica Neue"/>
            </a:endParaRPr>
          </a:p>
        </p:txBody>
      </p:sp>
      <p:sp>
        <p:nvSpPr>
          <p:cNvPr id="74" name="Google Shape;74;p3"/>
          <p:cNvSpPr txBox="1"/>
          <p:nvPr/>
        </p:nvSpPr>
        <p:spPr>
          <a:xfrm>
            <a:off x="1395750" y="3792675"/>
            <a:ext cx="3832500" cy="76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Practice</a:t>
            </a:r>
            <a:endParaRPr b="0" i="0" sz="1800" u="none" cap="none" strike="noStrike">
              <a:solidFill>
                <a:schemeClr val="dk2"/>
              </a:solidFill>
              <a:latin typeface="Helvetica Neue"/>
              <a:ea typeface="Helvetica Neue"/>
              <a:cs typeface="Helvetica Neue"/>
              <a:sym typeface="Helvetica Neue"/>
            </a:endParaRPr>
          </a:p>
        </p:txBody>
      </p:sp>
      <p:sp>
        <p:nvSpPr>
          <p:cNvPr id="75" name="Google Shape;75;p3"/>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79" name="Shape 79"/>
        <p:cNvGrpSpPr/>
        <p:nvPr/>
      </p:nvGrpSpPr>
      <p:grpSpPr>
        <a:xfrm>
          <a:off x="0" y="0"/>
          <a:ext cx="0" cy="0"/>
          <a:chOff x="0" y="0"/>
          <a:chExt cx="0" cy="0"/>
        </a:xfrm>
      </p:grpSpPr>
      <p:sp>
        <p:nvSpPr>
          <p:cNvPr id="80" name="Google Shape;80;p5"/>
          <p:cNvSpPr txBox="1"/>
          <p:nvPr>
            <p:ph type="title"/>
          </p:nvPr>
        </p:nvSpPr>
        <p:spPr>
          <a:xfrm>
            <a:off x="-510011" y="1527929"/>
            <a:ext cx="7010202" cy="70056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sz="3820">
                <a:latin typeface="Helvetica Neue"/>
                <a:ea typeface="Helvetica Neue"/>
                <a:cs typeface="Helvetica Neue"/>
                <a:sym typeface="Helvetica Neue"/>
              </a:rPr>
              <a:t>Simple Linear regression</a:t>
            </a:r>
            <a:endParaRPr b="1" sz="3820">
              <a:latin typeface="Helvetica Neue"/>
              <a:ea typeface="Helvetica Neue"/>
              <a:cs typeface="Helvetica Neue"/>
              <a:sym typeface="Helvetica Neue"/>
            </a:endParaRPr>
          </a:p>
        </p:txBody>
      </p:sp>
      <p:sp>
        <p:nvSpPr>
          <p:cNvPr id="81" name="Google Shape;81;p5"/>
          <p:cNvSpPr txBox="1"/>
          <p:nvPr/>
        </p:nvSpPr>
        <p:spPr>
          <a:xfrm>
            <a:off x="276883" y="2228489"/>
            <a:ext cx="4295117" cy="101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2"/>
                </a:solidFill>
                <a:latin typeface="Arial"/>
                <a:ea typeface="Arial"/>
                <a:cs typeface="Arial"/>
                <a:sym typeface="Arial"/>
              </a:rPr>
              <a:t>Key assumptions, meaning behind it and application</a:t>
            </a:r>
            <a:endParaRPr b="0" i="0" sz="1400" u="none" cap="none" strike="noStrike">
              <a:solidFill>
                <a:schemeClr val="dk2"/>
              </a:solidFill>
              <a:latin typeface="Arial"/>
              <a:ea typeface="Arial"/>
              <a:cs typeface="Arial"/>
              <a:sym typeface="Arial"/>
            </a:endParaRPr>
          </a:p>
        </p:txBody>
      </p:sp>
      <p:sp>
        <p:nvSpPr>
          <p:cNvPr id="82" name="Google Shape;82;p5"/>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88" name="Google Shape;88;p6"/>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89" name="Google Shape;89;p6"/>
          <p:cNvSpPr txBox="1"/>
          <p:nvPr/>
        </p:nvSpPr>
        <p:spPr>
          <a:xfrm>
            <a:off x="311700" y="1445900"/>
            <a:ext cx="3875700" cy="123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2"/>
                </a:solidFill>
                <a:latin typeface="Arial"/>
                <a:ea typeface="Arial"/>
                <a:cs typeface="Arial"/>
                <a:sym typeface="Arial"/>
              </a:rPr>
              <a:t>Linear regression</a:t>
            </a:r>
            <a:r>
              <a:rPr b="0" i="0" lang="en-GB" sz="1800" u="none" cap="none" strike="noStrike">
                <a:solidFill>
                  <a:schemeClr val="dk2"/>
                </a:solidFill>
                <a:latin typeface="Arial"/>
                <a:ea typeface="Arial"/>
                <a:cs typeface="Arial"/>
                <a:sym typeface="Arial"/>
              </a:rPr>
              <a:t> - a statistical model that tries to describe data by fitting it into the line</a:t>
            </a:r>
            <a:endParaRPr b="0" i="0" sz="1800" u="none" cap="none" strike="noStrike">
              <a:solidFill>
                <a:schemeClr val="dk2"/>
              </a:solidFill>
              <a:latin typeface="Arial"/>
              <a:ea typeface="Arial"/>
              <a:cs typeface="Arial"/>
              <a:sym typeface="Arial"/>
            </a:endParaRPr>
          </a:p>
        </p:txBody>
      </p:sp>
      <p:pic>
        <p:nvPicPr>
          <p:cNvPr id="90" name="Google Shape;90;p6"/>
          <p:cNvPicPr preferRelativeResize="0"/>
          <p:nvPr/>
        </p:nvPicPr>
        <p:blipFill rotWithShape="1">
          <a:blip r:embed="rId3">
            <a:alphaModFix/>
          </a:blip>
          <a:srcRect b="0" l="0" r="0" t="0"/>
          <a:stretch/>
        </p:blipFill>
        <p:spPr>
          <a:xfrm>
            <a:off x="4187400" y="787650"/>
            <a:ext cx="4770349" cy="2875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96" name="Google Shape;96;p7"/>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graphicFrame>
        <p:nvGraphicFramePr>
          <p:cNvPr id="97" name="Google Shape;97;p7"/>
          <p:cNvGraphicFramePr/>
          <p:nvPr/>
        </p:nvGraphicFramePr>
        <p:xfrm>
          <a:off x="569844" y="1553277"/>
          <a:ext cx="3000000" cy="3000000"/>
        </p:xfrm>
        <a:graphic>
          <a:graphicData uri="http://schemas.openxmlformats.org/drawingml/2006/table">
            <a:tbl>
              <a:tblPr bandRow="1" firstRow="1">
                <a:noFill/>
                <a:tableStyleId>{6AE2D43B-9A1D-4200-88F0-C5B13CC5D5C5}</a:tableStyleId>
              </a:tblPr>
              <a:tblGrid>
                <a:gridCol w="1187400"/>
                <a:gridCol w="2218425"/>
                <a:gridCol w="4085375"/>
              </a:tblGrid>
              <a:tr h="41112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None/>
                      </a:pPr>
                      <a:r>
                        <a:rPr b="1" lang="en-GB" sz="1400" u="none" cap="none" strike="noStrike">
                          <a:latin typeface="Helvetica Neue"/>
                          <a:ea typeface="Helvetica Neue"/>
                          <a:cs typeface="Helvetica Neue"/>
                          <a:sym typeface="Helvetica Neue"/>
                        </a:rPr>
                        <a:t>Simple regression</a:t>
                      </a:r>
                      <a:endParaRPr b="1" sz="1400" u="none" cap="none" strike="noStrike">
                        <a:latin typeface="Helvetica Neue"/>
                        <a:ea typeface="Helvetica Neue"/>
                        <a:cs typeface="Helvetica Neue"/>
                        <a:sym typeface="Helvetica Neue"/>
                      </a:endParaRPr>
                    </a:p>
                  </a:txBody>
                  <a:tcPr marT="45725" marB="45725" marR="91450" marL="91450"/>
                </a:tc>
                <a:tc>
                  <a:txBody>
                    <a:bodyPr/>
                    <a:lstStyle/>
                    <a:p>
                      <a:pPr indent="0" lvl="0" marL="0" marR="0" rtl="0" algn="ctr">
                        <a:lnSpc>
                          <a:spcPct val="100000"/>
                        </a:lnSpc>
                        <a:spcBef>
                          <a:spcPts val="0"/>
                        </a:spcBef>
                        <a:spcAft>
                          <a:spcPts val="0"/>
                        </a:spcAft>
                        <a:buNone/>
                      </a:pPr>
                      <a:r>
                        <a:rPr b="1" lang="en-GB" sz="1400" u="none" cap="none" strike="noStrike">
                          <a:latin typeface="Helvetica Neue"/>
                          <a:ea typeface="Helvetica Neue"/>
                          <a:cs typeface="Helvetica Neue"/>
                          <a:sym typeface="Helvetica Neue"/>
                        </a:rPr>
                        <a:t>Multiple regression</a:t>
                      </a:r>
                      <a:endParaRPr b="1" sz="1400" u="none" cap="none" strike="noStrike">
                        <a:latin typeface="Helvetica Neue"/>
                        <a:ea typeface="Helvetica Neue"/>
                        <a:cs typeface="Helvetica Neue"/>
                        <a:sym typeface="Helvetica Neue"/>
                      </a:endParaRPr>
                    </a:p>
                  </a:txBody>
                  <a:tcPr marT="45725" marB="45725" marR="91450" marL="91450"/>
                </a:tc>
              </a:tr>
              <a:tr h="411125">
                <a:tc>
                  <a:txBody>
                    <a:bodyPr/>
                    <a:lstStyle/>
                    <a:p>
                      <a:pPr indent="0" lvl="0" marL="0" marR="0" rtl="0" algn="l">
                        <a:lnSpc>
                          <a:spcPct val="100000"/>
                        </a:lnSpc>
                        <a:spcBef>
                          <a:spcPts val="0"/>
                        </a:spcBef>
                        <a:spcAft>
                          <a:spcPts val="0"/>
                        </a:spcAft>
                        <a:buNone/>
                      </a:pPr>
                      <a:r>
                        <a:rPr b="1" lang="en-GB" sz="1400" u="none" cap="none" strike="noStrike">
                          <a:latin typeface="Helvetica Neue"/>
                          <a:ea typeface="Helvetica Neue"/>
                          <a:cs typeface="Helvetica Neue"/>
                          <a:sym typeface="Helvetica Neue"/>
                        </a:rPr>
                        <a:t>Formula</a:t>
                      </a:r>
                      <a:endParaRPr b="1" sz="1400" u="none" cap="none" strike="noStrike">
                        <a:latin typeface="Helvetica Neue"/>
                        <a:ea typeface="Helvetica Neue"/>
                        <a:cs typeface="Helvetica Neue"/>
                        <a:sym typeface="Helvetica Neue"/>
                      </a:endParaRPr>
                    </a:p>
                  </a:txBody>
                  <a:tcPr marT="45725" marB="45725" marR="91450" marL="91450"/>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r>
              <a:tr h="411125">
                <a:tc>
                  <a:txBody>
                    <a:bodyPr/>
                    <a:lstStyle/>
                    <a:p>
                      <a:pPr indent="0" lvl="0" marL="0" marR="0" rtl="0" algn="l">
                        <a:lnSpc>
                          <a:spcPct val="100000"/>
                        </a:lnSpc>
                        <a:spcBef>
                          <a:spcPts val="0"/>
                        </a:spcBef>
                        <a:spcAft>
                          <a:spcPts val="0"/>
                        </a:spcAft>
                        <a:buNone/>
                      </a:pPr>
                      <a:r>
                        <a:rPr lang="en-GB" sz="1400" u="none" cap="none" strike="noStrike"/>
                        <a:t>Meaning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GB" sz="1400" u="none" cap="none" strike="noStrike"/>
                        <a:t>Describes simple relationship between one variable and the other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Describes relationship between one variable and many other variables</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sp>
        <p:nvSpPr>
          <p:cNvPr id="98" name="Google Shape;98;p7"/>
          <p:cNvSpPr txBox="1"/>
          <p:nvPr/>
        </p:nvSpPr>
        <p:spPr>
          <a:xfrm>
            <a:off x="1608814" y="2020576"/>
            <a:ext cx="2433099" cy="307777"/>
          </a:xfrm>
          <a:prstGeom prst="rect">
            <a:avLst/>
          </a:prstGeom>
          <a:blipFill rotWithShape="1">
            <a:blip r:embed="rId3">
              <a:alphaModFix/>
            </a:blip>
            <a:stretch>
              <a:fillRect b="-1538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400" u="none" cap="none" strike="noStrike">
                <a:latin typeface="Arial"/>
                <a:ea typeface="Arial"/>
                <a:cs typeface="Arial"/>
                <a:sym typeface="Arial"/>
              </a:rPr>
              <a:t> </a:t>
            </a:r>
            <a:endParaRPr/>
          </a:p>
        </p:txBody>
      </p:sp>
      <p:sp>
        <p:nvSpPr>
          <p:cNvPr id="99" name="Google Shape;99;p7"/>
          <p:cNvSpPr txBox="1"/>
          <p:nvPr/>
        </p:nvSpPr>
        <p:spPr>
          <a:xfrm>
            <a:off x="3939871" y="2020576"/>
            <a:ext cx="3828553" cy="307777"/>
          </a:xfrm>
          <a:prstGeom prst="rect">
            <a:avLst/>
          </a:prstGeom>
          <a:blipFill rotWithShape="1">
            <a:blip r:embed="rId4">
              <a:alphaModFix/>
            </a:blip>
            <a:stretch>
              <a:fillRect b="-1538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400" u="none" cap="none" strike="noStrike">
                <a:latin typeface="Arial"/>
                <a:ea typeface="Arial"/>
                <a:cs typeface="Arial"/>
                <a:sym typeface="Arial"/>
              </a:rPr>
              <a:t> </a:t>
            </a:r>
            <a:endParaRPr/>
          </a:p>
        </p:txBody>
      </p:sp>
      <p:sp>
        <p:nvSpPr>
          <p:cNvPr id="100" name="Google Shape;100;p7"/>
          <p:cNvSpPr txBox="1"/>
          <p:nvPr/>
        </p:nvSpPr>
        <p:spPr>
          <a:xfrm>
            <a:off x="763326" y="3258132"/>
            <a:ext cx="4362615" cy="1834733"/>
          </a:xfrm>
          <a:prstGeom prst="rect">
            <a:avLst/>
          </a:prstGeom>
          <a:blipFill rotWithShape="1">
            <a:blip r:embed="rId5">
              <a:alphaModFix/>
            </a:blip>
            <a:stretch>
              <a:fillRect b="0" l="-580" r="0" t="-6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400" u="none" cap="none" strike="noStrike">
                <a:latin typeface="Arial"/>
                <a:ea typeface="Arial"/>
                <a:cs typeface="Arial"/>
                <a:sym typeface="Aria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06" name="Google Shape;106;p8"/>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107" name="Google Shape;107;p8"/>
          <p:cNvPicPr preferRelativeResize="0"/>
          <p:nvPr/>
        </p:nvPicPr>
        <p:blipFill rotWithShape="1">
          <a:blip r:embed="rId3">
            <a:alphaModFix/>
          </a:blip>
          <a:srcRect b="0" l="0" r="0" t="0"/>
          <a:stretch/>
        </p:blipFill>
        <p:spPr>
          <a:xfrm>
            <a:off x="401721" y="1143469"/>
            <a:ext cx="5474294" cy="3378422"/>
          </a:xfrm>
          <a:prstGeom prst="rect">
            <a:avLst/>
          </a:prstGeom>
          <a:noFill/>
          <a:ln>
            <a:noFill/>
          </a:ln>
        </p:spPr>
      </p:pic>
      <p:sp>
        <p:nvSpPr>
          <p:cNvPr id="108" name="Google Shape;108;p8"/>
          <p:cNvSpPr txBox="1"/>
          <p:nvPr/>
        </p:nvSpPr>
        <p:spPr>
          <a:xfrm>
            <a:off x="6400800" y="1542553"/>
            <a:ext cx="1908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Helvetica Neue"/>
                <a:ea typeface="Helvetica Neue"/>
                <a:cs typeface="Helvetica Neue"/>
                <a:sym typeface="Helvetica Neue"/>
              </a:rPr>
              <a:t>What are </a:t>
            </a:r>
            <a:r>
              <a:rPr b="1" i="0" lang="en-GB" sz="1400" u="none" cap="none" strike="noStrike">
                <a:solidFill>
                  <a:srgbClr val="000000"/>
                </a:solidFill>
                <a:latin typeface="Helvetica Neue"/>
                <a:ea typeface="Helvetica Neue"/>
                <a:cs typeface="Helvetica Neue"/>
                <a:sym typeface="Helvetica Neue"/>
              </a:rPr>
              <a:t>residuals?</a:t>
            </a:r>
            <a:endParaRPr b="1"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14" name="Google Shape;114;p9"/>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115" name="Google Shape;115;p9"/>
          <p:cNvPicPr preferRelativeResize="0"/>
          <p:nvPr/>
        </p:nvPicPr>
        <p:blipFill rotWithShape="1">
          <a:blip r:embed="rId3">
            <a:alphaModFix/>
          </a:blip>
          <a:srcRect b="0" l="0" r="0" t="0"/>
          <a:stretch/>
        </p:blipFill>
        <p:spPr>
          <a:xfrm>
            <a:off x="401721" y="1143469"/>
            <a:ext cx="5474294" cy="3378422"/>
          </a:xfrm>
          <a:prstGeom prst="rect">
            <a:avLst/>
          </a:prstGeom>
          <a:noFill/>
          <a:ln>
            <a:noFill/>
          </a:ln>
        </p:spPr>
      </p:pic>
      <p:sp>
        <p:nvSpPr>
          <p:cNvPr id="116" name="Google Shape;116;p9"/>
          <p:cNvSpPr txBox="1"/>
          <p:nvPr/>
        </p:nvSpPr>
        <p:spPr>
          <a:xfrm>
            <a:off x="6400800" y="1542553"/>
            <a:ext cx="1908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Helvetica Neue"/>
                <a:ea typeface="Helvetica Neue"/>
                <a:cs typeface="Helvetica Neue"/>
                <a:sym typeface="Helvetica Neue"/>
              </a:rPr>
              <a:t>What are </a:t>
            </a:r>
            <a:r>
              <a:rPr b="1" i="0" lang="en-GB" sz="1400" u="none" cap="none" strike="noStrike">
                <a:solidFill>
                  <a:srgbClr val="000000"/>
                </a:solidFill>
                <a:latin typeface="Helvetica Neue"/>
                <a:ea typeface="Helvetica Neue"/>
                <a:cs typeface="Helvetica Neue"/>
                <a:sym typeface="Helvetica Neue"/>
              </a:rPr>
              <a:t>residuals?</a:t>
            </a:r>
            <a:endParaRPr b="1" i="0" sz="1400" u="none" cap="none" strike="noStrike">
              <a:solidFill>
                <a:srgbClr val="000000"/>
              </a:solidFill>
              <a:latin typeface="Helvetica Neue"/>
              <a:ea typeface="Helvetica Neue"/>
              <a:cs typeface="Helvetica Neue"/>
              <a:sym typeface="Helvetica Neue"/>
            </a:endParaRPr>
          </a:p>
        </p:txBody>
      </p:sp>
      <p:sp>
        <p:nvSpPr>
          <p:cNvPr id="117" name="Google Shape;117;p9"/>
          <p:cNvSpPr txBox="1"/>
          <p:nvPr/>
        </p:nvSpPr>
        <p:spPr>
          <a:xfrm>
            <a:off x="6400800" y="2005826"/>
            <a:ext cx="182084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Helvetica Neue Light"/>
                <a:ea typeface="Helvetica Neue Light"/>
                <a:cs typeface="Helvetica Neue Light"/>
                <a:sym typeface="Helvetica Neue Light"/>
              </a:rPr>
              <a:t>Differences between actual and estimated values</a:t>
            </a:r>
            <a:endParaRPr b="0" i="0" sz="1400" u="none" cap="none" strike="noStrike">
              <a:solidFill>
                <a:srgbClr val="000000"/>
              </a:solidFill>
              <a:latin typeface="Helvetica Neue Light"/>
              <a:ea typeface="Helvetica Neue Light"/>
              <a:cs typeface="Helvetica Neue Light"/>
              <a:sym typeface="Helvetica Neue Light"/>
            </a:endParaRPr>
          </a:p>
        </p:txBody>
      </p:sp>
      <p:cxnSp>
        <p:nvCxnSpPr>
          <p:cNvPr id="118" name="Google Shape;118;p9"/>
          <p:cNvCxnSpPr/>
          <p:nvPr/>
        </p:nvCxnSpPr>
        <p:spPr>
          <a:xfrm rot="10800000">
            <a:off x="5188227" y="2910177"/>
            <a:ext cx="357808" cy="723569"/>
          </a:xfrm>
          <a:prstGeom prst="straightConnector1">
            <a:avLst/>
          </a:prstGeom>
          <a:noFill/>
          <a:ln cap="flat" cmpd="sng" w="9525">
            <a:solidFill>
              <a:srgbClr val="B1CDFB"/>
            </a:solidFill>
            <a:prstDash val="solid"/>
            <a:round/>
            <a:headEnd len="sm" w="sm" type="none"/>
            <a:tailEnd len="med" w="med" type="triangle"/>
          </a:ln>
        </p:spPr>
      </p:cxnSp>
      <p:cxnSp>
        <p:nvCxnSpPr>
          <p:cNvPr id="119" name="Google Shape;119;p9"/>
          <p:cNvCxnSpPr/>
          <p:nvPr/>
        </p:nvCxnSpPr>
        <p:spPr>
          <a:xfrm flipH="1" rot="10800000">
            <a:off x="4454055" y="2910177"/>
            <a:ext cx="404192" cy="551797"/>
          </a:xfrm>
          <a:prstGeom prst="straightConnector1">
            <a:avLst/>
          </a:prstGeom>
          <a:noFill/>
          <a:ln cap="flat" cmpd="sng" w="9525">
            <a:solidFill>
              <a:srgbClr val="B1CDFB"/>
            </a:solidFill>
            <a:prstDash val="solid"/>
            <a:round/>
            <a:headEnd len="sm" w="sm" type="none"/>
            <a:tailEnd len="med" w="med" type="triangle"/>
          </a:ln>
        </p:spPr>
      </p:cxnSp>
      <p:sp>
        <p:nvSpPr>
          <p:cNvPr id="120" name="Google Shape;120;p9"/>
          <p:cNvSpPr txBox="1"/>
          <p:nvPr/>
        </p:nvSpPr>
        <p:spPr>
          <a:xfrm>
            <a:off x="4651513" y="2601848"/>
            <a:ext cx="1073427"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900" u="none" cap="none" strike="noStrike">
                <a:solidFill>
                  <a:srgbClr val="000000"/>
                </a:solidFill>
                <a:latin typeface="Helvetica Neue Light"/>
                <a:ea typeface="Helvetica Neue Light"/>
                <a:cs typeface="Helvetica Neue Light"/>
                <a:sym typeface="Helvetica Neue Light"/>
              </a:rPr>
              <a:t>residuals</a:t>
            </a:r>
            <a:endParaRPr b="0" i="0" sz="900" u="none" cap="none" strike="noStrik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26" name="Google Shape;126;p10"/>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27" name="Google Shape;127;p10"/>
          <p:cNvSpPr txBox="1"/>
          <p:nvPr/>
        </p:nvSpPr>
        <p:spPr>
          <a:xfrm>
            <a:off x="165849" y="1239906"/>
            <a:ext cx="6364159" cy="102621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Linear regression requires some assumptions to be met:</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GB" sz="1800" u="none" cap="none" strike="noStrike">
                <a:solidFill>
                  <a:schemeClr val="dk2"/>
                </a:solidFill>
                <a:latin typeface="Arial"/>
                <a:ea typeface="Arial"/>
                <a:cs typeface="Arial"/>
                <a:sym typeface="Arial"/>
              </a:rPr>
              <a:t>Linearity</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GB" sz="1800" u="none" cap="none" strike="noStrike">
                <a:solidFill>
                  <a:schemeClr val="dk2"/>
                </a:solidFill>
                <a:latin typeface="Arial"/>
                <a:ea typeface="Arial"/>
                <a:cs typeface="Arial"/>
                <a:sym typeface="Arial"/>
              </a:rPr>
              <a:t>Normality of residuals</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GB" sz="1800" u="none" cap="none" strike="noStrike">
                <a:solidFill>
                  <a:schemeClr val="dk2"/>
                </a:solidFill>
                <a:latin typeface="Arial"/>
                <a:ea typeface="Arial"/>
                <a:cs typeface="Arial"/>
                <a:sym typeface="Arial"/>
              </a:rPr>
              <a:t>Homoscedastiy of residuals </a:t>
            </a:r>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GB" sz="1800" u="none" cap="none" strike="noStrike">
                <a:solidFill>
                  <a:schemeClr val="dk2"/>
                </a:solidFill>
                <a:latin typeface="Arial"/>
                <a:ea typeface="Arial"/>
                <a:cs typeface="Arial"/>
                <a:sym typeface="Arial"/>
              </a:rPr>
              <a:t>Independence </a:t>
            </a:r>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GB" sz="1800" u="none" cap="none" strike="noStrike">
                <a:solidFill>
                  <a:schemeClr val="dk2"/>
                </a:solidFill>
                <a:latin typeface="Arial"/>
                <a:ea typeface="Arial"/>
                <a:cs typeface="Arial"/>
                <a:sym typeface="Arial"/>
              </a:rPr>
              <a:t>No multicollinearity (for multiple regression analysis)</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33" name="Google Shape;133;p11"/>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134" name="Google Shape;134;p11"/>
          <p:cNvPicPr preferRelativeResize="0"/>
          <p:nvPr/>
        </p:nvPicPr>
        <p:blipFill rotWithShape="1">
          <a:blip r:embed="rId3">
            <a:alphaModFix/>
          </a:blip>
          <a:srcRect b="0" l="0" r="0" t="0"/>
          <a:stretch/>
        </p:blipFill>
        <p:spPr>
          <a:xfrm>
            <a:off x="3363100" y="1139300"/>
            <a:ext cx="5469200" cy="3296500"/>
          </a:xfrm>
          <a:prstGeom prst="rect">
            <a:avLst/>
          </a:prstGeom>
          <a:noFill/>
          <a:ln>
            <a:noFill/>
          </a:ln>
        </p:spPr>
      </p:pic>
      <p:sp>
        <p:nvSpPr>
          <p:cNvPr id="135" name="Google Shape;135;p11"/>
          <p:cNvSpPr txBox="1"/>
          <p:nvPr/>
        </p:nvSpPr>
        <p:spPr>
          <a:xfrm>
            <a:off x="362425" y="1742775"/>
            <a:ext cx="2035800" cy="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2"/>
                </a:solidFill>
                <a:latin typeface="Arial"/>
                <a:ea typeface="Arial"/>
                <a:cs typeface="Arial"/>
                <a:sym typeface="Arial"/>
              </a:rPr>
              <a:t>Linearity assumption</a:t>
            </a:r>
            <a:r>
              <a:rPr b="0" i="0" lang="en-GB" sz="1800" u="none" cap="none" strike="noStrike">
                <a:solidFill>
                  <a:schemeClr val="dk2"/>
                </a:solidFill>
                <a:latin typeface="Arial"/>
                <a:ea typeface="Arial"/>
                <a:cs typeface="Arial"/>
                <a:sym typeface="Arial"/>
              </a:rPr>
              <a:t> can be checked with a simple scatterplot</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41" name="Google Shape;141;p12"/>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142" name="Google Shape;142;p12"/>
          <p:cNvPicPr preferRelativeResize="0"/>
          <p:nvPr/>
        </p:nvPicPr>
        <p:blipFill rotWithShape="1">
          <a:blip r:embed="rId3">
            <a:alphaModFix/>
          </a:blip>
          <a:srcRect b="0" l="0" r="0" t="0"/>
          <a:stretch/>
        </p:blipFill>
        <p:spPr>
          <a:xfrm>
            <a:off x="3916950" y="1139300"/>
            <a:ext cx="4915350" cy="1019900"/>
          </a:xfrm>
          <a:prstGeom prst="rect">
            <a:avLst/>
          </a:prstGeom>
          <a:noFill/>
          <a:ln>
            <a:noFill/>
          </a:ln>
        </p:spPr>
      </p:pic>
      <p:pic>
        <p:nvPicPr>
          <p:cNvPr id="143" name="Google Shape;143;p12"/>
          <p:cNvPicPr preferRelativeResize="0"/>
          <p:nvPr/>
        </p:nvPicPr>
        <p:blipFill rotWithShape="1">
          <a:blip r:embed="rId4">
            <a:alphaModFix/>
          </a:blip>
          <a:srcRect b="0" l="0" r="0" t="0"/>
          <a:stretch/>
        </p:blipFill>
        <p:spPr>
          <a:xfrm>
            <a:off x="3916950" y="2242200"/>
            <a:ext cx="4566471" cy="2679500"/>
          </a:xfrm>
          <a:prstGeom prst="rect">
            <a:avLst/>
          </a:prstGeom>
          <a:noFill/>
          <a:ln>
            <a:noFill/>
          </a:ln>
        </p:spPr>
      </p:pic>
      <p:sp>
        <p:nvSpPr>
          <p:cNvPr id="144" name="Google Shape;144;p12"/>
          <p:cNvSpPr txBox="1"/>
          <p:nvPr/>
        </p:nvSpPr>
        <p:spPr>
          <a:xfrm>
            <a:off x="200500" y="1534575"/>
            <a:ext cx="2760600" cy="25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2"/>
                </a:solidFill>
                <a:latin typeface="Helvetica Neue"/>
                <a:ea typeface="Helvetica Neue"/>
                <a:cs typeface="Helvetica Neue"/>
                <a:sym typeface="Helvetica Neue"/>
              </a:rPr>
              <a:t>Normality of data </a:t>
            </a:r>
            <a:r>
              <a:rPr b="0" i="0" lang="en-GB" sz="1800" u="none" cap="none" strike="noStrike">
                <a:solidFill>
                  <a:schemeClr val="dk2"/>
                </a:solidFill>
                <a:latin typeface="Helvetica Neue"/>
                <a:ea typeface="Helvetica Neue"/>
                <a:cs typeface="Helvetica Neue"/>
                <a:sym typeface="Helvetica Neue"/>
              </a:rPr>
              <a:t>can be assessed via </a:t>
            </a:r>
            <a:r>
              <a:rPr b="1" i="0" lang="en-GB" sz="1800" u="none" cap="none" strike="noStrike">
                <a:solidFill>
                  <a:schemeClr val="dk2"/>
                </a:solidFill>
                <a:latin typeface="Helvetica Neue"/>
                <a:ea typeface="Helvetica Neue"/>
                <a:cs typeface="Helvetica Neue"/>
                <a:sym typeface="Helvetica Neue"/>
              </a:rPr>
              <a:t>Shapiro-Wilk test</a:t>
            </a:r>
            <a:r>
              <a:rPr b="0" i="0" lang="en-GB" sz="1800" u="none" cap="none" strike="noStrike">
                <a:solidFill>
                  <a:schemeClr val="dk2"/>
                </a:solidFill>
                <a:latin typeface="Helvetica Neue"/>
                <a:ea typeface="Helvetica Neue"/>
                <a:cs typeface="Helvetica Neue"/>
                <a:sym typeface="Helvetica Neue"/>
              </a:rPr>
              <a:t>:</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H0: The data is normally distributed (p-value &gt; 0.1)</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H1: The data is not normally distributed (p-value &lt; 0.1)</a:t>
            </a:r>
            <a:endParaRPr b="0" i="0" sz="18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50" name="Google Shape;150;p13"/>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51" name="Google Shape;151;p13"/>
          <p:cNvSpPr txBox="1"/>
          <p:nvPr/>
        </p:nvSpPr>
        <p:spPr>
          <a:xfrm>
            <a:off x="200500" y="1534575"/>
            <a:ext cx="2760600" cy="25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Or you can build a </a:t>
            </a:r>
            <a:r>
              <a:rPr b="1" i="0" lang="en-GB" sz="1800" u="none" cap="none" strike="noStrike">
                <a:solidFill>
                  <a:schemeClr val="dk2"/>
                </a:solidFill>
                <a:latin typeface="Helvetica Neue"/>
                <a:ea typeface="Helvetica Neue"/>
                <a:cs typeface="Helvetica Neue"/>
                <a:sym typeface="Helvetica Neue"/>
              </a:rPr>
              <a:t>QQ-plot</a:t>
            </a:r>
            <a:endParaRPr b="1"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It compares theoretical quantiles of a normal distribution with sample quantiles</a:t>
            </a:r>
            <a:endParaRPr b="0" i="0" sz="1800" u="none" cap="none" strike="noStrike">
              <a:solidFill>
                <a:schemeClr val="dk2"/>
              </a:solidFill>
              <a:latin typeface="Helvetica Neue"/>
              <a:ea typeface="Helvetica Neue"/>
              <a:cs typeface="Helvetica Neue"/>
              <a:sym typeface="Helvetica Neue"/>
            </a:endParaRPr>
          </a:p>
        </p:txBody>
      </p:sp>
      <p:pic>
        <p:nvPicPr>
          <p:cNvPr id="152" name="Google Shape;152;p13"/>
          <p:cNvPicPr preferRelativeResize="0"/>
          <p:nvPr/>
        </p:nvPicPr>
        <p:blipFill rotWithShape="1">
          <a:blip r:embed="rId3">
            <a:alphaModFix/>
          </a:blip>
          <a:srcRect b="0" l="0" r="0" t="0"/>
          <a:stretch/>
        </p:blipFill>
        <p:spPr>
          <a:xfrm>
            <a:off x="3776675" y="167625"/>
            <a:ext cx="4516823" cy="2485099"/>
          </a:xfrm>
          <a:prstGeom prst="rect">
            <a:avLst/>
          </a:prstGeom>
          <a:noFill/>
          <a:ln>
            <a:noFill/>
          </a:ln>
        </p:spPr>
      </p:pic>
      <p:pic>
        <p:nvPicPr>
          <p:cNvPr id="153" name="Google Shape;153;p13"/>
          <p:cNvPicPr preferRelativeResize="0"/>
          <p:nvPr/>
        </p:nvPicPr>
        <p:blipFill rotWithShape="1">
          <a:blip r:embed="rId4">
            <a:alphaModFix/>
          </a:blip>
          <a:srcRect b="0" l="0" r="0" t="0"/>
          <a:stretch/>
        </p:blipFill>
        <p:spPr>
          <a:xfrm>
            <a:off x="3776675" y="2685050"/>
            <a:ext cx="3641677" cy="2250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59" name="Google Shape;159;p14"/>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60" name="Google Shape;160;p14"/>
          <p:cNvSpPr txBox="1"/>
          <p:nvPr/>
        </p:nvSpPr>
        <p:spPr>
          <a:xfrm>
            <a:off x="200500" y="1335100"/>
            <a:ext cx="2760600" cy="25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2"/>
                </a:solidFill>
                <a:latin typeface="Helvetica Neue"/>
                <a:ea typeface="Helvetica Neue"/>
                <a:cs typeface="Helvetica Neue"/>
                <a:sym typeface="Helvetica Neue"/>
              </a:rPr>
              <a:t>Homoscedasticity</a:t>
            </a:r>
            <a:r>
              <a:rPr b="0" i="0" lang="en-GB" sz="1800" u="none" cap="none" strike="noStrike">
                <a:solidFill>
                  <a:schemeClr val="dk2"/>
                </a:solidFill>
                <a:latin typeface="Arial"/>
                <a:ea typeface="Arial"/>
                <a:cs typeface="Arial"/>
                <a:sym typeface="Arial"/>
              </a:rPr>
              <a:t> </a:t>
            </a:r>
            <a:r>
              <a:rPr b="0" i="0" lang="en-GB" sz="1800" u="none" cap="none" strike="noStrike">
                <a:solidFill>
                  <a:schemeClr val="dk2"/>
                </a:solidFill>
                <a:latin typeface="Helvetica Neue"/>
                <a:ea typeface="Helvetica Neue"/>
                <a:cs typeface="Helvetica Neue"/>
                <a:sym typeface="Helvetica Neue"/>
              </a:rPr>
              <a:t>can be checked by plotting residuals of the model and estimated (fitted) values of the model.</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This data should not follow a pattern and be consistently distributed</a:t>
            </a:r>
            <a:endParaRPr b="0" i="0" sz="1800" u="none" cap="none" strike="noStrike">
              <a:solidFill>
                <a:schemeClr val="dk2"/>
              </a:solidFill>
              <a:latin typeface="Helvetica Neue"/>
              <a:ea typeface="Helvetica Neue"/>
              <a:cs typeface="Helvetica Neue"/>
              <a:sym typeface="Helvetica Neue"/>
            </a:endParaRPr>
          </a:p>
        </p:txBody>
      </p:sp>
      <p:pic>
        <p:nvPicPr>
          <p:cNvPr id="161" name="Google Shape;161;p14"/>
          <p:cNvPicPr preferRelativeResize="0"/>
          <p:nvPr/>
        </p:nvPicPr>
        <p:blipFill rotWithShape="1">
          <a:blip r:embed="rId3">
            <a:alphaModFix/>
          </a:blip>
          <a:srcRect b="0" l="0" r="0" t="0"/>
          <a:stretch/>
        </p:blipFill>
        <p:spPr>
          <a:xfrm>
            <a:off x="3128900" y="869375"/>
            <a:ext cx="5878100" cy="3025919"/>
          </a:xfrm>
          <a:prstGeom prst="rect">
            <a:avLst/>
          </a:prstGeom>
          <a:noFill/>
          <a:ln>
            <a:noFill/>
          </a:ln>
        </p:spPr>
      </p:pic>
      <p:pic>
        <p:nvPicPr>
          <p:cNvPr id="162" name="Google Shape;162;p14"/>
          <p:cNvPicPr preferRelativeResize="0"/>
          <p:nvPr/>
        </p:nvPicPr>
        <p:blipFill rotWithShape="1">
          <a:blip r:embed="rId4">
            <a:alphaModFix/>
          </a:blip>
          <a:srcRect b="0" l="0" r="0" t="0"/>
          <a:stretch/>
        </p:blipFill>
        <p:spPr>
          <a:xfrm>
            <a:off x="3128900" y="4189550"/>
            <a:ext cx="5648789" cy="680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68" name="Google Shape;168;p15"/>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69" name="Google Shape;169;p15"/>
          <p:cNvSpPr txBox="1"/>
          <p:nvPr/>
        </p:nvSpPr>
        <p:spPr>
          <a:xfrm>
            <a:off x="311700" y="1038700"/>
            <a:ext cx="5097057" cy="25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Or you can check for homoscedasticity by conducting  </a:t>
            </a:r>
            <a:r>
              <a:rPr b="1" i="0" lang="en-GB" sz="1800" u="none" cap="none" strike="noStrike">
                <a:solidFill>
                  <a:schemeClr val="dk2"/>
                </a:solidFill>
                <a:latin typeface="Helvetica Neue"/>
                <a:ea typeface="Helvetica Neue"/>
                <a:cs typeface="Helvetica Neue"/>
                <a:sym typeface="Helvetica Neue"/>
              </a:rPr>
              <a:t>Breusch-Pagan</a:t>
            </a:r>
            <a:r>
              <a:rPr b="0" i="0" lang="en-GB" sz="1800" u="none" cap="none" strike="noStrike">
                <a:solidFill>
                  <a:schemeClr val="dk2"/>
                </a:solidFill>
                <a:latin typeface="Helvetica Neue"/>
                <a:ea typeface="Helvetica Neue"/>
                <a:cs typeface="Helvetica Neue"/>
                <a:sym typeface="Helvetica Neue"/>
              </a:rPr>
              <a:t> test</a:t>
            </a:r>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Helvetica Neue"/>
              <a:ea typeface="Helvetica Neue"/>
              <a:cs typeface="Helvetica Neue"/>
              <a:sym typeface="Helvetica Neue"/>
            </a:endParaRPr>
          </a:p>
          <a:p>
            <a:pPr indent="-114300" lvl="0" marL="0" marR="0" rtl="0" algn="l">
              <a:lnSpc>
                <a:spcPct val="100000"/>
              </a:lnSpc>
              <a:spcBef>
                <a:spcPts val="0"/>
              </a:spcBef>
              <a:spcAft>
                <a:spcPts val="0"/>
              </a:spcAft>
              <a:buClr>
                <a:srgbClr val="000000"/>
              </a:buClr>
              <a:buSzPts val="1800"/>
              <a:buFont typeface="Arial"/>
              <a:buChar char="•"/>
            </a:pPr>
            <a:r>
              <a:rPr b="1" i="0" lang="en-GB" sz="1800" u="none" cap="none" strike="noStrike">
                <a:solidFill>
                  <a:schemeClr val="dk2"/>
                </a:solidFill>
                <a:latin typeface="Helvetica Neue"/>
                <a:ea typeface="Helvetica Neue"/>
                <a:cs typeface="Helvetica Neue"/>
                <a:sym typeface="Helvetica Neue"/>
              </a:rPr>
              <a:t>(H0): </a:t>
            </a:r>
            <a:r>
              <a:rPr b="0" i="0" lang="en-GB" sz="1800" u="none" cap="none" strike="noStrike">
                <a:solidFill>
                  <a:schemeClr val="dk2"/>
                </a:solidFill>
                <a:latin typeface="Helvetica Neue"/>
                <a:ea typeface="Helvetica Neue"/>
                <a:cs typeface="Helvetica Neue"/>
                <a:sym typeface="Helvetica Neue"/>
              </a:rPr>
              <a:t>Homoscedasticity is present (the residuals are distributed with equal variance)</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chemeClr val="dk2"/>
                </a:solidFill>
                <a:latin typeface="Helvetica Neue"/>
                <a:ea typeface="Helvetica Neue"/>
                <a:cs typeface="Helvetica Neue"/>
                <a:sym typeface="Helvetica Neue"/>
              </a:rPr>
              <a:t> </a:t>
            </a:r>
            <a:r>
              <a:rPr b="1" i="0" lang="en-GB" sz="1800" u="none" cap="none" strike="noStrike">
                <a:solidFill>
                  <a:schemeClr val="dk2"/>
                </a:solidFill>
                <a:latin typeface="Helvetica Neue"/>
                <a:ea typeface="Helvetica Neue"/>
                <a:cs typeface="Helvetica Neue"/>
                <a:sym typeface="Helvetica Neue"/>
              </a:rPr>
              <a:t>(HA): </a:t>
            </a:r>
            <a:r>
              <a:rPr b="0" i="0" lang="en-GB" sz="1800" u="none" cap="none" strike="noStrike">
                <a:solidFill>
                  <a:schemeClr val="dk2"/>
                </a:solidFill>
                <a:latin typeface="Helvetica Neue"/>
                <a:ea typeface="Helvetica Neue"/>
                <a:cs typeface="Helvetica Neue"/>
                <a:sym typeface="Helvetica Neue"/>
              </a:rPr>
              <a:t>Heteroscedasticity is present (the residuals are not distributed with equal variance)</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Helvetica Neue"/>
              <a:ea typeface="Helvetica Neue"/>
              <a:cs typeface="Helvetica Neue"/>
              <a:sym typeface="Helvetica Neue"/>
            </a:endParaRPr>
          </a:p>
        </p:txBody>
      </p:sp>
      <p:pic>
        <p:nvPicPr>
          <p:cNvPr id="170" name="Google Shape;170;p15"/>
          <p:cNvPicPr preferRelativeResize="0"/>
          <p:nvPr/>
        </p:nvPicPr>
        <p:blipFill rotWithShape="1">
          <a:blip r:embed="rId3">
            <a:alphaModFix/>
          </a:blip>
          <a:srcRect b="0" l="0" r="0" t="0"/>
          <a:stretch/>
        </p:blipFill>
        <p:spPr>
          <a:xfrm>
            <a:off x="5034998" y="1017725"/>
            <a:ext cx="3966565" cy="22153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Linear regression</a:t>
            </a:r>
            <a:endParaRPr b="1">
              <a:latin typeface="Helvetica Neue"/>
              <a:ea typeface="Helvetica Neue"/>
              <a:cs typeface="Helvetica Neue"/>
              <a:sym typeface="Helvetica Neue"/>
            </a:endParaRPr>
          </a:p>
        </p:txBody>
      </p:sp>
      <p:sp>
        <p:nvSpPr>
          <p:cNvPr id="176" name="Google Shape;176;p16"/>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77" name="Google Shape;177;p16"/>
          <p:cNvSpPr txBox="1"/>
          <p:nvPr/>
        </p:nvSpPr>
        <p:spPr>
          <a:xfrm>
            <a:off x="311700" y="1038700"/>
            <a:ext cx="5097057" cy="323512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Helvetica Neue"/>
                <a:ea typeface="Helvetica Neue"/>
                <a:cs typeface="Helvetica Neue"/>
                <a:sym typeface="Helvetica Neue"/>
              </a:rPr>
              <a:t>Or you can check for independence by conducting  </a:t>
            </a:r>
            <a:r>
              <a:rPr b="1" i="0" lang="en-GB" sz="1800" u="none" cap="none" strike="noStrike">
                <a:solidFill>
                  <a:schemeClr val="dk2"/>
                </a:solidFill>
                <a:latin typeface="Helvetica Neue"/>
                <a:ea typeface="Helvetica Neue"/>
                <a:cs typeface="Helvetica Neue"/>
                <a:sym typeface="Helvetica Neue"/>
              </a:rPr>
              <a:t>Durbin-Watson test</a:t>
            </a:r>
            <a:endParaRPr b="1" i="0" sz="1800" u="none" cap="none" strike="noStrike">
              <a:solidFill>
                <a:schemeClr val="dk2"/>
              </a:solidFill>
              <a:latin typeface="Helvetica Neue"/>
              <a:ea typeface="Helvetica Neue"/>
              <a:cs typeface="Helvetica Neue"/>
              <a:sym typeface="Helvetica Neue"/>
            </a:endParaRPr>
          </a:p>
          <a:p>
            <a:pPr indent="-114300" lvl="0" marL="0" marR="0" rtl="0" algn="l">
              <a:lnSpc>
                <a:spcPct val="100000"/>
              </a:lnSpc>
              <a:spcBef>
                <a:spcPts val="0"/>
              </a:spcBef>
              <a:spcAft>
                <a:spcPts val="0"/>
              </a:spcAft>
              <a:buClr>
                <a:srgbClr val="000000"/>
              </a:buClr>
              <a:buSzPts val="1800"/>
              <a:buFont typeface="Arial"/>
              <a:buChar char="•"/>
            </a:pPr>
            <a:r>
              <a:rPr b="1" i="0" lang="en-GB" sz="1800" u="none" cap="none" strike="noStrike">
                <a:solidFill>
                  <a:schemeClr val="dk2"/>
                </a:solidFill>
                <a:latin typeface="Helvetica Neue"/>
                <a:ea typeface="Helvetica Neue"/>
                <a:cs typeface="Helvetica Neue"/>
                <a:sym typeface="Helvetica Neue"/>
              </a:rPr>
              <a:t>H₀: </a:t>
            </a:r>
            <a:r>
              <a:rPr b="0" i="0" lang="en-GB" sz="1800" u="none" cap="none" strike="noStrike">
                <a:solidFill>
                  <a:schemeClr val="dk2"/>
                </a:solidFill>
                <a:latin typeface="Helvetica Neue"/>
                <a:ea typeface="Helvetica Neue"/>
                <a:cs typeface="Helvetica Neue"/>
                <a:sym typeface="Helvetica Neue"/>
              </a:rPr>
              <a:t>Residuals are not autocorrelated </a:t>
            </a:r>
            <a:endParaRPr/>
          </a:p>
          <a:p>
            <a:pPr indent="0" lvl="0" marL="0" marR="0" rtl="0" algn="l">
              <a:lnSpc>
                <a:spcPct val="100000"/>
              </a:lnSpc>
              <a:spcBef>
                <a:spcPts val="0"/>
              </a:spcBef>
              <a:spcAft>
                <a:spcPts val="0"/>
              </a:spcAft>
              <a:buNone/>
            </a:pPr>
            <a:r>
              <a:rPr b="0" i="0" lang="en-GB" sz="1800" u="none" cap="none" strike="noStrike">
                <a:solidFill>
                  <a:schemeClr val="dk2"/>
                </a:solidFill>
                <a:latin typeface="Helvetica Neue"/>
                <a:ea typeface="Helvetica Neue"/>
                <a:cs typeface="Helvetica Neue"/>
                <a:sym typeface="Helvetica Neue"/>
              </a:rPr>
              <a:t>(no serial correlation)</a:t>
            </a:r>
            <a:endParaRPr/>
          </a:p>
          <a:p>
            <a:pPr indent="-114300" lvl="0" marL="0" marR="0" rtl="0" algn="l">
              <a:lnSpc>
                <a:spcPct val="100000"/>
              </a:lnSpc>
              <a:spcBef>
                <a:spcPts val="0"/>
              </a:spcBef>
              <a:spcAft>
                <a:spcPts val="0"/>
              </a:spcAft>
              <a:buClr>
                <a:srgbClr val="000000"/>
              </a:buClr>
              <a:buSzPts val="1800"/>
              <a:buFont typeface="Arial"/>
              <a:buChar char="•"/>
            </a:pPr>
            <a:r>
              <a:rPr b="1" i="0" lang="en-GB" sz="1800" u="none" cap="none" strike="noStrike">
                <a:solidFill>
                  <a:schemeClr val="dk2"/>
                </a:solidFill>
                <a:latin typeface="Helvetica Neue"/>
                <a:ea typeface="Helvetica Neue"/>
                <a:cs typeface="Helvetica Neue"/>
                <a:sym typeface="Helvetica Neue"/>
              </a:rPr>
              <a:t>H₁: </a:t>
            </a:r>
            <a:r>
              <a:rPr b="0" i="0" lang="en-GB" sz="1800" u="none" cap="none" strike="noStrike">
                <a:solidFill>
                  <a:schemeClr val="dk2"/>
                </a:solidFill>
                <a:latin typeface="Helvetica Neue"/>
                <a:ea typeface="Helvetica Neue"/>
                <a:cs typeface="Helvetica Neue"/>
                <a:sym typeface="Helvetica Neue"/>
              </a:rPr>
              <a:t>Residuals are autocorrelated (either positively or negatively).</a:t>
            </a:r>
            <a:endParaRPr b="0" i="0" sz="1800" u="none" cap="none" strike="noStrike">
              <a:solidFill>
                <a:schemeClr val="dk2"/>
              </a:solidFill>
              <a:latin typeface="Helvetica Neue"/>
              <a:ea typeface="Helvetica Neue"/>
              <a:cs typeface="Helvetica Neue"/>
              <a:sym typeface="Helvetica Neue"/>
            </a:endParaRPr>
          </a:p>
        </p:txBody>
      </p:sp>
      <p:pic>
        <p:nvPicPr>
          <p:cNvPr id="178" name="Google Shape;178;p16"/>
          <p:cNvPicPr preferRelativeResize="0"/>
          <p:nvPr/>
        </p:nvPicPr>
        <p:blipFill rotWithShape="1">
          <a:blip r:embed="rId3">
            <a:alphaModFix/>
          </a:blip>
          <a:srcRect b="0" l="0" r="0" t="0"/>
          <a:stretch/>
        </p:blipFill>
        <p:spPr>
          <a:xfrm>
            <a:off x="4918388" y="1147276"/>
            <a:ext cx="3913912" cy="1424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Statistical models VS Machine learning models</a:t>
            </a:r>
            <a:endParaRPr b="1">
              <a:latin typeface="Helvetica Neue"/>
              <a:ea typeface="Helvetica Neue"/>
              <a:cs typeface="Helvetica Neue"/>
              <a:sym typeface="Helvetica Neue"/>
            </a:endParaRPr>
          </a:p>
        </p:txBody>
      </p:sp>
      <p:sp>
        <p:nvSpPr>
          <p:cNvPr id="184" name="Google Shape;184;p17"/>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185" name="Google Shape;185;p17"/>
          <p:cNvPicPr preferRelativeResize="0"/>
          <p:nvPr/>
        </p:nvPicPr>
        <p:blipFill rotWithShape="1">
          <a:blip r:embed="rId3">
            <a:alphaModFix/>
          </a:blip>
          <a:srcRect b="0" l="0" r="0" t="0"/>
          <a:stretch/>
        </p:blipFill>
        <p:spPr>
          <a:xfrm>
            <a:off x="2075291" y="1161074"/>
            <a:ext cx="4436828" cy="36155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Statistical models VS Machine learning models</a:t>
            </a:r>
            <a:endParaRPr b="1">
              <a:latin typeface="Helvetica Neue"/>
              <a:ea typeface="Helvetica Neue"/>
              <a:cs typeface="Helvetica Neue"/>
              <a:sym typeface="Helvetica Neue"/>
            </a:endParaRPr>
          </a:p>
        </p:txBody>
      </p:sp>
      <p:sp>
        <p:nvSpPr>
          <p:cNvPr id="191" name="Google Shape;191;p18"/>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192" name="Google Shape;192;p18"/>
          <p:cNvSpPr txBox="1"/>
          <p:nvPr/>
        </p:nvSpPr>
        <p:spPr>
          <a:xfrm>
            <a:off x="2732796" y="1628820"/>
            <a:ext cx="224839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Helvetica Neue"/>
                <a:ea typeface="Helvetica Neue"/>
                <a:cs typeface="Helvetica Neue"/>
                <a:sym typeface="Helvetica Neue"/>
              </a:rPr>
              <a:t>Statistical models</a:t>
            </a:r>
            <a:endParaRPr b="1" i="0" sz="1400" u="none" cap="none" strike="noStrike">
              <a:solidFill>
                <a:srgbClr val="000000"/>
              </a:solidFill>
              <a:latin typeface="Helvetica Neue"/>
              <a:ea typeface="Helvetica Neue"/>
              <a:cs typeface="Helvetica Neue"/>
              <a:sym typeface="Helvetica Neue"/>
            </a:endParaRPr>
          </a:p>
        </p:txBody>
      </p:sp>
      <p:sp>
        <p:nvSpPr>
          <p:cNvPr id="193" name="Google Shape;193;p18"/>
          <p:cNvSpPr txBox="1"/>
          <p:nvPr/>
        </p:nvSpPr>
        <p:spPr>
          <a:xfrm>
            <a:off x="5216361" y="1628820"/>
            <a:ext cx="13822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Helvetica Neue"/>
                <a:ea typeface="Helvetica Neue"/>
                <a:cs typeface="Helvetica Neue"/>
                <a:sym typeface="Helvetica Neue"/>
              </a:rPr>
              <a:t>ML models</a:t>
            </a:r>
            <a:endParaRPr b="1" i="0" sz="1400" u="none" cap="none" strike="noStrike">
              <a:solidFill>
                <a:srgbClr val="000000"/>
              </a:solidFill>
              <a:latin typeface="Helvetica Neue"/>
              <a:ea typeface="Helvetica Neue"/>
              <a:cs typeface="Helvetica Neue"/>
              <a:sym typeface="Helvetica Neue"/>
            </a:endParaRPr>
          </a:p>
        </p:txBody>
      </p:sp>
      <p:graphicFrame>
        <p:nvGraphicFramePr>
          <p:cNvPr id="194" name="Google Shape;194;p18"/>
          <p:cNvGraphicFramePr/>
          <p:nvPr/>
        </p:nvGraphicFramePr>
        <p:xfrm>
          <a:off x="692624" y="1628821"/>
          <a:ext cx="3000000" cy="3000000"/>
        </p:xfrm>
        <a:graphic>
          <a:graphicData uri="http://schemas.openxmlformats.org/drawingml/2006/table">
            <a:tbl>
              <a:tblPr bandRow="1" firstRow="1">
                <a:noFill/>
                <a:tableStyleId>{6AE2D43B-9A1D-4200-88F0-C5B13CC5D5C5}</a:tableStyleId>
              </a:tblPr>
              <a:tblGrid>
                <a:gridCol w="1414475"/>
                <a:gridCol w="2703450"/>
                <a:gridCol w="2415200"/>
              </a:tblGrid>
              <a:tr h="37085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996850">
                <a:tc>
                  <a:txBody>
                    <a:bodyPr/>
                    <a:lstStyle/>
                    <a:p>
                      <a:pPr indent="0" lvl="0" marL="0" marR="0" rtl="0" algn="l">
                        <a:lnSpc>
                          <a:spcPct val="100000"/>
                        </a:lnSpc>
                        <a:spcBef>
                          <a:spcPts val="0"/>
                        </a:spcBef>
                        <a:spcAft>
                          <a:spcPts val="0"/>
                        </a:spcAft>
                        <a:buNone/>
                      </a:pPr>
                      <a:r>
                        <a:rPr lang="en-GB" sz="1400" u="none" cap="none" strike="noStrike"/>
                        <a:t>Properties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Highly interpretable</a:t>
                      </a:r>
                      <a:endParaRPr/>
                    </a:p>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Strong assumptions</a:t>
                      </a:r>
                      <a:endParaRPr/>
                    </a:p>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Explains things</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Barely interpretable</a:t>
                      </a:r>
                      <a:endParaRPr/>
                    </a:p>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Almost no assumptions</a:t>
                      </a:r>
                      <a:endParaRPr/>
                    </a:p>
                    <a:p>
                      <a:pPr indent="-285750" lvl="0" marL="285750" marR="0" rtl="0" algn="l">
                        <a:lnSpc>
                          <a:spcPct val="100000"/>
                        </a:lnSpc>
                        <a:spcBef>
                          <a:spcPts val="0"/>
                        </a:spcBef>
                        <a:spcAft>
                          <a:spcPts val="0"/>
                        </a:spcAft>
                        <a:buClr>
                          <a:srgbClr val="000000"/>
                        </a:buClr>
                        <a:buSzPts val="1400"/>
                        <a:buFont typeface="Noto Sans Symbols"/>
                        <a:buChar char="▪"/>
                      </a:pPr>
                      <a:r>
                        <a:rPr lang="en-GB" sz="1400" u="none" cap="none" strike="noStrike"/>
                        <a:t>Makes accurate predictions</a:t>
                      </a:r>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None/>
                      </a:pPr>
                      <a:r>
                        <a:rPr lang="en-GB" sz="1400" u="none" cap="none" strike="noStrike"/>
                        <a:t>Examples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400" u="none" cap="none" strike="noStrike"/>
                        <a:t>Linear Regression, Logistic regression, ANOVA</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GB" sz="1400" u="none" cap="none" strike="noStrike"/>
                        <a:t>Random forest, Gradient Boosting, Neural Networks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98" name="Shape 198"/>
        <p:cNvGrpSpPr/>
        <p:nvPr/>
      </p:nvGrpSpPr>
      <p:grpSpPr>
        <a:xfrm>
          <a:off x="0" y="0"/>
          <a:ext cx="0" cy="0"/>
          <a:chOff x="0" y="0"/>
          <a:chExt cx="0" cy="0"/>
        </a:xfrm>
      </p:grpSpPr>
      <p:sp>
        <p:nvSpPr>
          <p:cNvPr id="199" name="Google Shape;199;p19"/>
          <p:cNvSpPr txBox="1"/>
          <p:nvPr>
            <p:ph type="title"/>
          </p:nvPr>
        </p:nvSpPr>
        <p:spPr>
          <a:xfrm>
            <a:off x="-1080660" y="1527929"/>
            <a:ext cx="7010202" cy="70056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GB" sz="3820">
                <a:latin typeface="Helvetica Neue"/>
                <a:ea typeface="Helvetica Neue"/>
                <a:cs typeface="Helvetica Neue"/>
                <a:sym typeface="Helvetica Neue"/>
              </a:rPr>
              <a:t>Interaction effects</a:t>
            </a:r>
            <a:endParaRPr b="1" sz="3820">
              <a:latin typeface="Helvetica Neue"/>
              <a:ea typeface="Helvetica Neue"/>
              <a:cs typeface="Helvetica Neue"/>
              <a:sym typeface="Helvetica Neue"/>
            </a:endParaRPr>
          </a:p>
        </p:txBody>
      </p:sp>
      <p:sp>
        <p:nvSpPr>
          <p:cNvPr id="200" name="Google Shape;200;p19"/>
          <p:cNvSpPr txBox="1"/>
          <p:nvPr/>
        </p:nvSpPr>
        <p:spPr>
          <a:xfrm>
            <a:off x="276883" y="2228489"/>
            <a:ext cx="4295117" cy="101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2"/>
                </a:solidFill>
                <a:latin typeface="Arial"/>
                <a:ea typeface="Arial"/>
                <a:cs typeface="Arial"/>
                <a:sym typeface="Arial"/>
              </a:rPr>
              <a:t>What they mean and why include them</a:t>
            </a:r>
            <a:endParaRPr b="0" i="0" sz="1400" u="none" cap="none" strike="noStrike">
              <a:solidFill>
                <a:schemeClr val="dk2"/>
              </a:solidFill>
              <a:latin typeface="Arial"/>
              <a:ea typeface="Arial"/>
              <a:cs typeface="Arial"/>
              <a:sym typeface="Arial"/>
            </a:endParaRPr>
          </a:p>
        </p:txBody>
      </p:sp>
      <p:sp>
        <p:nvSpPr>
          <p:cNvPr id="201" name="Google Shape;201;p19"/>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Interaction effect</a:t>
            </a:r>
            <a:endParaRPr b="1">
              <a:latin typeface="Helvetica Neue"/>
              <a:ea typeface="Helvetica Neue"/>
              <a:cs typeface="Helvetica Neue"/>
              <a:sym typeface="Helvetica Neue"/>
            </a:endParaRPr>
          </a:p>
        </p:txBody>
      </p:sp>
      <p:sp>
        <p:nvSpPr>
          <p:cNvPr id="207" name="Google Shape;207;p20"/>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208" name="Google Shape;208;p20"/>
          <p:cNvPicPr preferRelativeResize="0"/>
          <p:nvPr/>
        </p:nvPicPr>
        <p:blipFill rotWithShape="1">
          <a:blip r:embed="rId3">
            <a:alphaModFix/>
          </a:blip>
          <a:srcRect b="0" l="0" r="0" t="0"/>
          <a:stretch/>
        </p:blipFill>
        <p:spPr>
          <a:xfrm>
            <a:off x="4168361" y="1463828"/>
            <a:ext cx="4737100" cy="800100"/>
          </a:xfrm>
          <a:prstGeom prst="rect">
            <a:avLst/>
          </a:prstGeom>
          <a:noFill/>
          <a:ln>
            <a:noFill/>
          </a:ln>
        </p:spPr>
      </p:pic>
      <p:sp>
        <p:nvSpPr>
          <p:cNvPr id="209" name="Google Shape;209;p20"/>
          <p:cNvSpPr txBox="1"/>
          <p:nvPr/>
        </p:nvSpPr>
        <p:spPr>
          <a:xfrm>
            <a:off x="487017" y="1463828"/>
            <a:ext cx="3025633"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chemeClr val="dk2"/>
                </a:solidFill>
                <a:latin typeface="Helvetica Neue"/>
                <a:ea typeface="Helvetica Neue"/>
                <a:cs typeface="Helvetica Neue"/>
                <a:sym typeface="Helvetica Neue"/>
              </a:rPr>
              <a:t>We may want to include interaction effects into the model if we want to estimate the joint effect of contributing to the target variable</a:t>
            </a:r>
            <a:endParaRPr b="0" i="0" sz="1800" u="none" cap="none" strike="noStrike">
              <a:solidFill>
                <a:schemeClr val="dk2"/>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Interaction effect</a:t>
            </a:r>
            <a:endParaRPr b="1">
              <a:latin typeface="Helvetica Neue"/>
              <a:ea typeface="Helvetica Neue"/>
              <a:cs typeface="Helvetica Neue"/>
              <a:sym typeface="Helvetica Neue"/>
            </a:endParaRPr>
          </a:p>
        </p:txBody>
      </p:sp>
      <p:sp>
        <p:nvSpPr>
          <p:cNvPr id="215" name="Google Shape;215;p21"/>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216" name="Google Shape;216;p21"/>
          <p:cNvSpPr txBox="1"/>
          <p:nvPr/>
        </p:nvSpPr>
        <p:spPr>
          <a:xfrm>
            <a:off x="311700" y="1311965"/>
            <a:ext cx="5373483"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chemeClr val="dk2"/>
                </a:solidFill>
                <a:latin typeface="Helvetica Neue"/>
                <a:ea typeface="Helvetica Neue"/>
                <a:cs typeface="Helvetica Neue"/>
                <a:sym typeface="Helvetica Neue"/>
              </a:rPr>
              <a:t>Why add them?</a:t>
            </a:r>
            <a:endParaRPr/>
          </a:p>
          <a:p>
            <a:pPr indent="0" lvl="0" marL="0" marR="0" rtl="0" algn="l">
              <a:lnSpc>
                <a:spcPct val="100000"/>
              </a:lnSpc>
              <a:spcBef>
                <a:spcPts val="0"/>
              </a:spcBef>
              <a:spcAft>
                <a:spcPts val="0"/>
              </a:spcAft>
              <a:buNone/>
            </a:pPr>
            <a:r>
              <a:t/>
            </a:r>
            <a:endParaRPr b="0" i="0" sz="1800" u="none" cap="none" strike="noStrike">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rPr b="0" i="0" lang="en-GB" sz="1800" u="none" cap="none" strike="noStrike">
                <a:solidFill>
                  <a:schemeClr val="dk2"/>
                </a:solidFill>
                <a:latin typeface="Helvetica Neue"/>
                <a:ea typeface="Helvetica Neue"/>
                <a:cs typeface="Helvetica Neue"/>
                <a:sym typeface="Helvetica Neue"/>
              </a:rPr>
              <a:t>Real world processes are rarely explained solely by independent contribution, more often they work complexly and contribution is not independent. Adding interaction term to the model may help us do this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latin typeface="Helvetica Neue"/>
                <a:ea typeface="Helvetica Neue"/>
                <a:cs typeface="Helvetica Neue"/>
                <a:sym typeface="Helvetica Neue"/>
              </a:rPr>
              <a:t>Interaction effect</a:t>
            </a:r>
            <a:endParaRPr b="1">
              <a:latin typeface="Helvetica Neue"/>
              <a:ea typeface="Helvetica Neue"/>
              <a:cs typeface="Helvetica Neue"/>
              <a:sym typeface="Helvetica Neue"/>
            </a:endParaRPr>
          </a:p>
        </p:txBody>
      </p:sp>
      <p:sp>
        <p:nvSpPr>
          <p:cNvPr id="222" name="Google Shape;222;p22"/>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pic>
        <p:nvPicPr>
          <p:cNvPr id="223" name="Google Shape;223;p22"/>
          <p:cNvPicPr preferRelativeResize="0"/>
          <p:nvPr/>
        </p:nvPicPr>
        <p:blipFill rotWithShape="1">
          <a:blip r:embed="rId3">
            <a:alphaModFix/>
          </a:blip>
          <a:srcRect b="0" l="0" r="0" t="0"/>
          <a:stretch/>
        </p:blipFill>
        <p:spPr>
          <a:xfrm>
            <a:off x="4343224" y="591378"/>
            <a:ext cx="4195062" cy="3960743"/>
          </a:xfrm>
          <a:prstGeom prst="rect">
            <a:avLst/>
          </a:prstGeom>
          <a:noFill/>
          <a:ln>
            <a:noFill/>
          </a:ln>
        </p:spPr>
      </p:pic>
      <p:sp>
        <p:nvSpPr>
          <p:cNvPr id="224" name="Google Shape;224;p22"/>
          <p:cNvSpPr txBox="1"/>
          <p:nvPr/>
        </p:nvSpPr>
        <p:spPr>
          <a:xfrm>
            <a:off x="671402" y="1637250"/>
            <a:ext cx="233569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chemeClr val="dk2"/>
                </a:solidFill>
                <a:latin typeface="Helvetica Neue"/>
                <a:ea typeface="Helvetica Neue"/>
                <a:cs typeface="Helvetica Neue"/>
                <a:sym typeface="Helvetica Neue"/>
              </a:rPr>
              <a:t>Example in 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28" name="Shape 228"/>
        <p:cNvGrpSpPr/>
        <p:nvPr/>
      </p:nvGrpSpPr>
      <p:grpSpPr>
        <a:xfrm>
          <a:off x="0" y="0"/>
          <a:ext cx="0" cy="0"/>
          <a:chOff x="0" y="0"/>
          <a:chExt cx="0" cy="0"/>
        </a:xfrm>
      </p:grpSpPr>
      <p:sp>
        <p:nvSpPr>
          <p:cNvPr id="229" name="Google Shape;229;p23"/>
          <p:cNvSpPr txBox="1"/>
          <p:nvPr/>
        </p:nvSpPr>
        <p:spPr>
          <a:xfrm>
            <a:off x="165850" y="115650"/>
            <a:ext cx="3346800" cy="30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Helvetica Neue"/>
                <a:ea typeface="Helvetica Neue"/>
                <a:cs typeface="Helvetica Neue"/>
                <a:sym typeface="Helvetica Neue"/>
              </a:rPr>
              <a:t>Saint-Petersburg	</a:t>
            </a:r>
            <a:r>
              <a:rPr b="1" lang="en-GB" sz="1000">
                <a:solidFill>
                  <a:schemeClr val="dk2"/>
                </a:solidFill>
                <a:latin typeface="Helvetica Neue"/>
                <a:ea typeface="Helvetica Neue"/>
                <a:cs typeface="Helvetica Neue"/>
                <a:sym typeface="Helvetica Neue"/>
              </a:rPr>
              <a:t>2026</a:t>
            </a:r>
            <a:endParaRPr b="1" i="0" sz="1000" u="none" cap="none" strike="noStrike">
              <a:solidFill>
                <a:schemeClr val="dk2"/>
              </a:solidFill>
              <a:latin typeface="Helvetica Neue"/>
              <a:ea typeface="Helvetica Neue"/>
              <a:cs typeface="Helvetica Neue"/>
              <a:sym typeface="Helvetica Neue"/>
            </a:endParaRPr>
          </a:p>
        </p:txBody>
      </p:sp>
      <p:sp>
        <p:nvSpPr>
          <p:cNvPr id="230" name="Google Shape;230;p23"/>
          <p:cNvSpPr txBox="1"/>
          <p:nvPr/>
        </p:nvSpPr>
        <p:spPr>
          <a:xfrm>
            <a:off x="165850" y="1271153"/>
            <a:ext cx="5683200" cy="192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2"/>
                </a:solidFill>
                <a:latin typeface="Helvetica Neue"/>
                <a:ea typeface="Helvetica Neue"/>
                <a:cs typeface="Helvetica Neue"/>
                <a:sym typeface="Helvetica Neue"/>
              </a:rPr>
              <a:t>Thank you for attention!</a:t>
            </a:r>
            <a:endParaRPr b="1" i="0" sz="2800" u="none" cap="none" strike="noStrike">
              <a:solidFill>
                <a:schemeClr val="dk2"/>
              </a:solidFill>
              <a:latin typeface="Helvetica Neue"/>
              <a:ea typeface="Helvetica Neue"/>
              <a:cs typeface="Helvetica Neue"/>
              <a:sym typeface="Helvetica Neue"/>
            </a:endParaRPr>
          </a:p>
        </p:txBody>
      </p:sp>
      <p:pic>
        <p:nvPicPr>
          <p:cNvPr id="231" name="Google Shape;231;p23"/>
          <p:cNvPicPr preferRelativeResize="0"/>
          <p:nvPr/>
        </p:nvPicPr>
        <p:blipFill rotWithShape="1">
          <a:blip r:embed="rId3">
            <a:alphaModFix/>
          </a:blip>
          <a:srcRect b="0" l="0" r="0" t="0"/>
          <a:stretch/>
        </p:blipFill>
        <p:spPr>
          <a:xfrm>
            <a:off x="431800" y="1972253"/>
            <a:ext cx="3251200" cy="2438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