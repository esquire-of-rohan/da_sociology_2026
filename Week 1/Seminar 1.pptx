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786A57-C43C-4A6C-9DC2-560D7F160FE9}">
  <a:tblStyle styleId="{59786A57-C43C-4A6C-9DC2-560D7F160F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4f3b8d8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4f3b8d8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4f3b8d8f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4f3b8d8f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4f3b8d8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4f3b8d8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8f020c53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8f020c53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563666bc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2563666bc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4f3b8d8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4f3b8d8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4f3b8d8f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4f3b8d8f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4f3b8d8f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4f3b8d8f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4f3b8d8f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4f3b8d8f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4f3b8d8f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4f3b8d8f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4f3b8d8f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4f3b8d8f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4f3b8d8f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4f3b8d8f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4f3b8d8f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4f3b8d8f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4f3b8d8f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24f3b8d8f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4f3b8d8f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4f3b8d8f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search" TargetMode="External"/><Relationship Id="rId4" Type="http://schemas.openxmlformats.org/officeDocument/2006/relationships/hyperlink" Target="https://publicapi.dev/" TargetMode="External"/><Relationship Id="rId5" Type="http://schemas.openxmlformats.org/officeDocument/2006/relationships/hyperlink" Target="https://automatetheboringstuff.com/2e/chapter12/" TargetMode="External"/><Relationship Id="rId6" Type="http://schemas.openxmlformats.org/officeDocument/2006/relationships/hyperlink" Target="https://www.youtube.com/watch?v=dQw4w9WgXcQ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Data Analysis for Sociology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06625"/>
            <a:ext cx="5183400" cy="10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5">
                <a:latin typeface="Helvetica Neue"/>
                <a:ea typeface="Helvetica Neue"/>
                <a:cs typeface="Helvetica Neue"/>
                <a:sym typeface="Helvetica Neue"/>
              </a:rPr>
              <a:t>Seminar 1</a:t>
            </a:r>
            <a:endParaRPr sz="4005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5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55">
                <a:latin typeface="Helvetica Neue"/>
                <a:ea typeface="Helvetica Neue"/>
                <a:cs typeface="Helvetica Neue"/>
                <a:sym typeface="Helvetica Neue"/>
              </a:rPr>
              <a:t>Preliminary data analysis</a:t>
            </a:r>
            <a:r>
              <a:rPr lang="en-GB" sz="4755">
                <a:latin typeface="Helvetica Neue"/>
                <a:ea typeface="Helvetica Neue"/>
                <a:cs typeface="Helvetica Neue"/>
                <a:sym typeface="Helvetica Neue"/>
              </a:rPr>
              <a:t>, visualizations, central tendency measure and correlations</a:t>
            </a:r>
            <a:endParaRPr sz="4755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145725"/>
            <a:ext cx="706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Meme of the week</a:t>
            </a:r>
            <a:endParaRPr b="1"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1" name="Google Shape;61;p14" title="IMG_307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1038325"/>
            <a:ext cx="5771201" cy="34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170403" y="149100"/>
            <a:ext cx="5754000" cy="126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Quote of the day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69475" y="2188175"/>
            <a:ext cx="6157800" cy="9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“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I love deadlines. I like the whooshing sound they make as they fly by”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Douglas Adams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472725" y="1221225"/>
            <a:ext cx="581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200" y="220500"/>
            <a:ext cx="2247294" cy="31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About me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30025" y="1114350"/>
            <a:ext cx="5552100" cy="29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Bachelor in economics HSE, Master in Management, PhD </a:t>
            </a:r>
            <a:r>
              <a:rPr lang="en-GB"/>
              <a:t>researcher</a:t>
            </a:r>
            <a:r>
              <a:rPr lang="en-GB"/>
              <a:t> in SPbSU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BI Developer at Avito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524375" y="3778575"/>
            <a:ext cx="23211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Telegram: @moonyloonylad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E-mail: ivlyapin@hse.ru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300" y="445025"/>
            <a:ext cx="2669400" cy="26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How we communicate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675" y="1017725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of the course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311700" y="1542400"/>
            <a:ext cx="7123800" cy="84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1697350"/>
            <a:ext cx="699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Helvetica Neue"/>
                <a:ea typeface="Helvetica Neue"/>
                <a:cs typeface="Helvetica Neue"/>
                <a:sym typeface="Helvetica Neue"/>
              </a:rPr>
              <a:t>Final Grade=0.4×Practice+0.4×Seminars+0.2×Exam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Plan for the seminar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Helvetica Neue"/>
              <a:buChar char="-"/>
            </a:pPr>
            <a:r>
              <a:rPr lang="en-GB" sz="2500">
                <a:latin typeface="Helvetica Neue"/>
                <a:ea typeface="Helvetica Neue"/>
                <a:cs typeface="Helvetica Neue"/>
                <a:sym typeface="Helvetica Neue"/>
              </a:rPr>
              <a:t>Preliminary data analysis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Helvetica Neue"/>
              <a:buChar char="-"/>
            </a:pPr>
            <a:r>
              <a:rPr lang="en-GB" sz="2500">
                <a:latin typeface="Helvetica Neue"/>
                <a:ea typeface="Helvetica Neue"/>
                <a:cs typeface="Helvetica Neue"/>
                <a:sym typeface="Helvetica Neue"/>
              </a:rPr>
              <a:t>Central </a:t>
            </a:r>
            <a:r>
              <a:rPr lang="en-GB" sz="2500">
                <a:latin typeface="Helvetica Neue"/>
                <a:ea typeface="Helvetica Neue"/>
                <a:cs typeface="Helvetica Neue"/>
                <a:sym typeface="Helvetica Neue"/>
              </a:rPr>
              <a:t>tendency</a:t>
            </a:r>
            <a:r>
              <a:rPr lang="en-GB" sz="2500">
                <a:latin typeface="Helvetica Neue"/>
                <a:ea typeface="Helvetica Neue"/>
                <a:cs typeface="Helvetica Neue"/>
                <a:sym typeface="Helvetica Neue"/>
              </a:rPr>
              <a:t> measures 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Helvetica Neue"/>
              <a:buChar char="-"/>
            </a:pPr>
            <a:r>
              <a:rPr lang="en-GB" sz="2500">
                <a:latin typeface="Helvetica Neue"/>
                <a:ea typeface="Helvetica Neue"/>
                <a:cs typeface="Helvetica Neue"/>
                <a:sym typeface="Helvetica Neue"/>
              </a:rPr>
              <a:t>Visualizations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Helvetica Neue"/>
              <a:buChar char="-"/>
            </a:pPr>
            <a:r>
              <a:rPr lang="en-GB" sz="2500">
                <a:latin typeface="Helvetica Neue"/>
                <a:ea typeface="Helvetica Neue"/>
                <a:cs typeface="Helvetica Neue"/>
                <a:sym typeface="Helvetica Neue"/>
              </a:rPr>
              <a:t>A little bit of paired tests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Where do we get data from?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Kaggle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Public APIs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Web scraping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Company owned databases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Generate data yourself  (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questionnaires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interviews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 and so on)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Preliminary data analysis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This step is crucial for 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understanding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 what kind of data you have</a:t>
            </a:r>
            <a:br>
              <a:rPr lang="en-GB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It includes: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Checking data types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Looking at the data (simple head() function usually suffices)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Using descriptive statistics (central 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tendency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 measures)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Visualizing data for better 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understanding of patterns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Examples of plots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Boxplot - 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a plot that show how your values are spread out by plotting them as box that represents 50 % of the distribution and whiskers that 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represent</a:t>
            </a: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 the rest of the distribution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00" y="2230500"/>
            <a:ext cx="4808575" cy="27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5046350" y="3572825"/>
            <a:ext cx="17157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Well, the graph speaks for itself. At </a:t>
            </a:r>
            <a:r>
              <a:rPr lang="en-GB" sz="1200">
                <a:solidFill>
                  <a:schemeClr val="dk2"/>
                </a:solidFill>
              </a:rPr>
              <a:t>least I hope so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Examples of plots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700">
                <a:latin typeface="Helvetica Neue"/>
                <a:ea typeface="Helvetica Neue"/>
                <a:cs typeface="Helvetica Neue"/>
                <a:sym typeface="Helvetica Neue"/>
              </a:rPr>
              <a:t>2. Histogram</a:t>
            </a:r>
            <a:r>
              <a:rPr b="1" lang="en-GB" sz="1700"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lang="en-GB" sz="1700">
                <a:latin typeface="Helvetica Neue"/>
                <a:ea typeface="Helvetica Neue"/>
                <a:cs typeface="Helvetica Neue"/>
                <a:sym typeface="Helvetica Neue"/>
              </a:rPr>
              <a:t>a graphical representation of the distribution of a dataset. It displays data by grouping it into intervals, or "bins," and counting how many data points fall into each bin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25" y="2103825"/>
            <a:ext cx="4936077" cy="2958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5147275" y="2967250"/>
            <a:ext cx="22305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For instance, this is Taylor Swift ticket sales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Examples of plots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700"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1" lang="en-GB" sz="1700">
                <a:latin typeface="Helvetica Neue"/>
                <a:ea typeface="Helvetica Neue"/>
                <a:cs typeface="Helvetica Neue"/>
                <a:sym typeface="Helvetica Neue"/>
              </a:rPr>
              <a:t>. Scatterplot - </a:t>
            </a:r>
            <a:r>
              <a:rPr lang="en-GB" sz="1700">
                <a:latin typeface="Helvetica Neue"/>
                <a:ea typeface="Helvetica Neue"/>
                <a:cs typeface="Helvetica Neue"/>
                <a:sym typeface="Helvetica Neue"/>
              </a:rPr>
              <a:t>visualization that displays the relationship between two continuous variables. Each data point in a scatterplot is represented as a dot on a two-dimensional graph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5147275" y="3108550"/>
            <a:ext cx="22305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This visuzalization shows obvious </a:t>
            </a:r>
            <a:r>
              <a:rPr lang="en-GB" sz="1200">
                <a:solidFill>
                  <a:schemeClr val="dk2"/>
                </a:solidFill>
              </a:rPr>
              <a:t>relationship between tickets sold and revenue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00" y="2339625"/>
            <a:ext cx="445692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Examples of plots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700"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1" lang="en-GB" sz="1700">
                <a:latin typeface="Helvetica Neue"/>
                <a:ea typeface="Helvetica Neue"/>
                <a:cs typeface="Helvetica Neue"/>
                <a:sym typeface="Helvetica Neue"/>
              </a:rPr>
              <a:t>. Barplot - </a:t>
            </a:r>
            <a:r>
              <a:rPr lang="en-GB" sz="1700">
                <a:latin typeface="Helvetica Neue"/>
                <a:ea typeface="Helvetica Neue"/>
                <a:cs typeface="Helvetica Neue"/>
                <a:sym typeface="Helvetica Neue"/>
              </a:rPr>
              <a:t>a data visualization used to represent categorical data with rectangular bars. The length or height of the bars is proportional to the value or frequency of the category it represents.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250" y="2226550"/>
            <a:ext cx="5046324" cy="28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Central 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tendency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 measures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There are 3 main central 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tendency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 measures: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Mode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 - the most frequently occuring value in the data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Mean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 - the arithmetic average of the data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Median</a:t>
            </a:r>
            <a:r>
              <a:rPr lang="en-GB">
                <a:latin typeface="Georgia"/>
                <a:ea typeface="Georgia"/>
                <a:cs typeface="Georgia"/>
                <a:sym typeface="Georgia"/>
              </a:rPr>
              <a:t> - the middle value in an ordered dataset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25" y="2280975"/>
            <a:ext cx="1677893" cy="107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875" y="3303350"/>
            <a:ext cx="3757226" cy="11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27"/>
          <p:cNvGraphicFramePr/>
          <p:nvPr/>
        </p:nvGraphicFramePr>
        <p:xfrm>
          <a:off x="912125" y="156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{59786A57-C43C-4A6C-9DC2-560D7F160FE9}</a:tableStyleId>
              </a:tblPr>
              <a:tblGrid>
                <a:gridCol w="2513925"/>
                <a:gridCol w="2513925"/>
                <a:gridCol w="2513925"/>
              </a:tblGrid>
              <a:tr h="65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Mode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Median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Mean</a:t>
                      </a:r>
                      <a:endParaRPr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  <a:tr h="111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Categorical data or for identifying repeated values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Skewed distributions or when outliers are present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Symmetrical distributions without outliers</a:t>
                      </a:r>
                      <a:endParaRPr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3" name="Google Shape;153;p27"/>
          <p:cNvSpPr txBox="1"/>
          <p:nvPr/>
        </p:nvSpPr>
        <p:spPr>
          <a:xfrm>
            <a:off x="141300" y="222050"/>
            <a:ext cx="581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to use each measure</a:t>
            </a:r>
            <a:endParaRPr b="1" sz="2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131675" y="167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That’s it for today with the theory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Thank </a:t>
            </a: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you</a:t>
            </a: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 for listening!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