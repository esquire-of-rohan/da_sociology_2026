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5143500" cx="9144000"/>
  <p:notesSz cx="6858000" cy="9144000"/>
  <p:embeddedFontLst>
    <p:embeddedFont>
      <p:font typeface="Helvetica Neue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38" roundtripDataSignature="AMtx7mjFF3vd1JjqKz7Nh4jeYvTPyMcP4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737abac8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g32737abac8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2737abac84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g32737abac84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2737abac84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" name="Google Shape;103;g32737abac84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2737abac84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2737abac84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2737abac84_0_5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g32737abac8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2737abac84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g32737abac84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2737abac84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2737abac84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2737abac84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7" name="Google Shape;157;g32737abac84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2737abac84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2737abac84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5" name="Google Shape;20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bbd217b640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g3bbd217b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6" name="Google Shape;276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3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41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41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4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4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4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Relationship Id="rId4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0" y="519150"/>
            <a:ext cx="71211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b="1" lang="en-GB" sz="4000">
                <a:latin typeface="Helvetica Neue"/>
                <a:ea typeface="Helvetica Neue"/>
                <a:cs typeface="Helvetica Neue"/>
                <a:sym typeface="Helvetica Neue"/>
              </a:rPr>
              <a:t>Data Analysis in Sociology</a:t>
            </a:r>
            <a:endParaRPr b="1" sz="4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-3081325" y="2571750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  Seminar 2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94"/>
              <a:buNone/>
            </a:pPr>
            <a:r>
              <a:t/>
            </a:r>
            <a:endParaRPr/>
          </a:p>
        </p:txBody>
      </p:sp>
      <p:sp>
        <p:nvSpPr>
          <p:cNvPr id="56" name="Google Shape;56;p1"/>
          <p:cNvSpPr txBox="1"/>
          <p:nvPr/>
        </p:nvSpPr>
        <p:spPr>
          <a:xfrm>
            <a:off x="239050" y="3955950"/>
            <a:ext cx="3531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Ilya lyapin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239050" y="4403250"/>
            <a:ext cx="32004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 Developer at Avito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1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2737abac84_0_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Quote of the day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" name="Google Shape;64;g32737abac84_0_0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65" name="Google Shape;65;g32737abac84_0_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1850" y="1038700"/>
            <a:ext cx="3433634" cy="3820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Plan for today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" name="Google Shape;7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9" y="1017725"/>
            <a:ext cx="1043350" cy="38212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5"/>
          <p:cNvSpPr txBox="1"/>
          <p:nvPr/>
        </p:nvSpPr>
        <p:spPr>
          <a:xfrm>
            <a:off x="1355050" y="2023450"/>
            <a:ext cx="38325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Paired and independent t-tests, chi-sq, non-parametric test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3" name="Google Shape;73;p5"/>
          <p:cNvSpPr txBox="1"/>
          <p:nvPr/>
        </p:nvSpPr>
        <p:spPr>
          <a:xfrm>
            <a:off x="1395750" y="1138838"/>
            <a:ext cx="38325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(Pearson, Kendall, Spearman)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4" name="Google Shape;74;p5"/>
          <p:cNvSpPr txBox="1"/>
          <p:nvPr/>
        </p:nvSpPr>
        <p:spPr>
          <a:xfrm>
            <a:off x="1395750" y="2977100"/>
            <a:ext cx="38325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5" name="Google Shape;75;p5"/>
          <p:cNvSpPr txBox="1"/>
          <p:nvPr/>
        </p:nvSpPr>
        <p:spPr>
          <a:xfrm>
            <a:off x="1395750" y="3792675"/>
            <a:ext cx="38325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Practice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6" name="Google Shape;76;p5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6"/>
          <p:cNvSpPr txBox="1"/>
          <p:nvPr>
            <p:ph type="title"/>
          </p:nvPr>
        </p:nvSpPr>
        <p:spPr>
          <a:xfrm>
            <a:off x="0" y="1493750"/>
            <a:ext cx="430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 sz="38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2" name="Google Shape;82;p6"/>
          <p:cNvSpPr txBox="1"/>
          <p:nvPr/>
        </p:nvSpPr>
        <p:spPr>
          <a:xfrm>
            <a:off x="763425" y="2220850"/>
            <a:ext cx="34161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What types of correlation exist, difference between them and implementation in R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9" name="Google Shape;89;p7"/>
          <p:cNvSpPr txBox="1"/>
          <p:nvPr>
            <p:ph idx="1" type="body"/>
          </p:nvPr>
        </p:nvSpPr>
        <p:spPr>
          <a:xfrm>
            <a:off x="134325" y="984725"/>
            <a:ext cx="8196300" cy="3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2400">
              <a:solidFill>
                <a:srgbClr val="1A1A1A"/>
              </a:solidFill>
              <a:highlight>
                <a:srgbClr val="FFFFFF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rgbClr val="1A1A1A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 txBox="1"/>
          <p:nvPr/>
        </p:nvSpPr>
        <p:spPr>
          <a:xfrm>
            <a:off x="346100" y="1449775"/>
            <a:ext cx="46578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Correlation -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statistical measure that measures the extent to which these two measures are associated with each other 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Usually when we talk about correlation we distinguish between 2 types of correlation coefficients: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AutoNum type="arabicPeriod"/>
            </a:pPr>
            <a:r>
              <a:rPr b="0" i="1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Pearson</a:t>
            </a:r>
            <a:endParaRPr b="0" i="1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Helvetica Neue"/>
              <a:buAutoNum type="arabicPeriod"/>
            </a:pPr>
            <a:r>
              <a:rPr b="0" i="1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Spearman</a:t>
            </a:r>
            <a:endParaRPr b="0" i="1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1" name="Google Shape;91;p7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2737abac84_0_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" name="Google Shape;97;g32737abac84_0_16"/>
          <p:cNvSpPr txBox="1"/>
          <p:nvPr/>
        </p:nvSpPr>
        <p:spPr>
          <a:xfrm>
            <a:off x="91625" y="1293200"/>
            <a:ext cx="46578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Pearson’s correlation coefficient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a coefficient that measures the linear relationship between two variables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8" name="Google Shape;98;g32737abac84_0_16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99" name="Google Shape;99;g32737abac84_0_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3250" y="855950"/>
            <a:ext cx="4618824" cy="161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g32737abac84_0_16"/>
          <p:cNvSpPr txBox="1"/>
          <p:nvPr/>
        </p:nvSpPr>
        <p:spPr>
          <a:xfrm>
            <a:off x="165850" y="2571750"/>
            <a:ext cx="4380000" cy="84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It is a </a:t>
            </a:r>
            <a:r>
              <a:rPr b="1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parametric measure</a:t>
            </a: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which means that it has some assumptions about the distribution of data: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Linearity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Homogeneity of variances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AutoNum type="arabicPeriod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Continuous data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2737abac84_0_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" name="Google Shape;106;g32737abac84_0_33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07" name="Google Shape;107;g32737abac84_0_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63100" y="1139300"/>
            <a:ext cx="5469200" cy="3296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g32737abac84_0_33"/>
          <p:cNvSpPr txBox="1"/>
          <p:nvPr/>
        </p:nvSpPr>
        <p:spPr>
          <a:xfrm>
            <a:off x="362425" y="1742775"/>
            <a:ext cx="2035800" cy="8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Linearity assumption</a:t>
            </a: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 be checked with a simple scatterplot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11111"/>
              <a:buFont typeface="Arial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15" name="Google Shape;11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6950" y="1139300"/>
            <a:ext cx="4915350" cy="1019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16950" y="2242200"/>
            <a:ext cx="4566471" cy="267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 txBox="1"/>
          <p:nvPr/>
        </p:nvSpPr>
        <p:spPr>
          <a:xfrm>
            <a:off x="200500" y="1534575"/>
            <a:ext cx="2760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Normality of data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assessed via </a:t>
            </a: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Shapiro-Wilk test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H0: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data is normally distributed (p-value &gt; 0.1)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H1: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The data is not normally distributed (p-value &lt; 0.1)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2737abac84_0_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g32737abac84_0_46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g32737abac84_0_46"/>
          <p:cNvSpPr txBox="1"/>
          <p:nvPr/>
        </p:nvSpPr>
        <p:spPr>
          <a:xfrm>
            <a:off x="200500" y="1534575"/>
            <a:ext cx="2760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 you can build a </a:t>
            </a: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QQ-plot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compares theoretical quantiles of a normal distribution with sample quantiles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25" name="Google Shape;125;g32737abac84_0_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6675" y="167625"/>
            <a:ext cx="4516823" cy="2485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g32737abac84_0_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76675" y="2685050"/>
            <a:ext cx="3641677" cy="22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2737abac84_0_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2" name="Google Shape;132;g32737abac84_0_56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3" name="Google Shape;133;g32737abac84_0_56"/>
          <p:cNvSpPr txBox="1"/>
          <p:nvPr/>
        </p:nvSpPr>
        <p:spPr>
          <a:xfrm>
            <a:off x="200500" y="1335100"/>
            <a:ext cx="2760600" cy="25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Homoscedasticity</a:t>
            </a: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can be checked by plotting residuals of the model and estimated (fitted) values of the model.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data should not follow a pattern and be consistently distributed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34" name="Google Shape;134;g32737abac84_0_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8900" y="869375"/>
            <a:ext cx="5878100" cy="3025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g32737abac84_0_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28900" y="4189550"/>
            <a:ext cx="5648789" cy="68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737abac84_0_6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1" name="Google Shape;141;g32737abac84_0_67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2" name="Google Shape;142;g32737abac84_0_67"/>
          <p:cNvSpPr txBox="1"/>
          <p:nvPr/>
        </p:nvSpPr>
        <p:spPr>
          <a:xfrm>
            <a:off x="539800" y="1326350"/>
            <a:ext cx="3971400" cy="18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these assumptions are not met, we should stick to non-parametric correlation coefficient - </a:t>
            </a:r>
            <a:r>
              <a:rPr b="1" lang="en-GB" sz="1800">
                <a:solidFill>
                  <a:schemeClr val="dk2"/>
                </a:solidFill>
              </a:rPr>
              <a:t>Spearman</a:t>
            </a:r>
            <a:r>
              <a:rPr b="1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correlation coefficient</a:t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1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g32737abac84_0_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96075" y="792850"/>
            <a:ext cx="4328000" cy="202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g32737abac84_0_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65500" y="3460675"/>
            <a:ext cx="3124200" cy="7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32737abac84_0_67"/>
          <p:cNvSpPr txBox="1"/>
          <p:nvPr/>
        </p:nvSpPr>
        <p:spPr>
          <a:xfrm>
            <a:off x="5189775" y="2984300"/>
            <a:ext cx="11721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where: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6" name="Google Shape;146;g32737abac84_0_67"/>
          <p:cNvSpPr txBox="1"/>
          <p:nvPr/>
        </p:nvSpPr>
        <p:spPr>
          <a:xfrm>
            <a:off x="5397975" y="4364650"/>
            <a:ext cx="3124200" cy="53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Difference between ranks of x and y for each observation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737abac84_0_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g32737abac84_0_80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3" name="Google Shape;153;g32737abac84_0_80"/>
          <p:cNvSpPr txBox="1"/>
          <p:nvPr/>
        </p:nvSpPr>
        <p:spPr>
          <a:xfrm>
            <a:off x="165850" y="2074500"/>
            <a:ext cx="5606100" cy="17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Measures the monotonic relationship between variables (linear or non-linear)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Based on ranked data, so it is robust to outliers and does not require normality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Helvetica Neue"/>
              <a:buChar char="●"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Suitable for ordinal, continuous, or skewed data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2737abac84_0_80"/>
          <p:cNvSpPr txBox="1"/>
          <p:nvPr/>
        </p:nvSpPr>
        <p:spPr>
          <a:xfrm>
            <a:off x="311700" y="1226100"/>
            <a:ext cx="3709200" cy="84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 characteristics of Spearman’s correlation coefficient: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2737abac84_0_9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>
                <a:latin typeface="Helvetica Neue"/>
                <a:ea typeface="Helvetica Neue"/>
                <a:cs typeface="Helvetica Neue"/>
                <a:sym typeface="Helvetica Neue"/>
              </a:rPr>
              <a:t>Correlation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0" name="Google Shape;160;g32737abac84_0_94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1" name="Google Shape;161;g32737abac84_0_9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969625"/>
            <a:ext cx="5819349" cy="3595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g32737abac84_0_9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3025" y="3837825"/>
            <a:ext cx="3968326" cy="87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2737abac84_0_103"/>
          <p:cNvSpPr txBox="1"/>
          <p:nvPr>
            <p:ph type="title"/>
          </p:nvPr>
        </p:nvSpPr>
        <p:spPr>
          <a:xfrm>
            <a:off x="0" y="1493750"/>
            <a:ext cx="430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 sz="38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68" name="Google Shape;168;g32737abac84_0_103"/>
          <p:cNvSpPr txBox="1"/>
          <p:nvPr/>
        </p:nvSpPr>
        <p:spPr>
          <a:xfrm>
            <a:off x="445650" y="2220850"/>
            <a:ext cx="34161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T-test (paired and independent), chi-sq test and other non-parametric tests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2737abac84_0_103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9"/>
          <p:cNvSpPr txBox="1"/>
          <p:nvPr>
            <p:ph type="title"/>
          </p:nvPr>
        </p:nvSpPr>
        <p:spPr>
          <a:xfrm>
            <a:off x="311700" y="67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5" name="Google Shape;175;p9"/>
          <p:cNvSpPr txBox="1"/>
          <p:nvPr>
            <p:ph idx="1" type="body"/>
          </p:nvPr>
        </p:nvSpPr>
        <p:spPr>
          <a:xfrm>
            <a:off x="311700" y="485625"/>
            <a:ext cx="8196300" cy="3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Types of statistical tests: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Parametric tests (requires data to follow a list of assumptions)</a:t>
            </a:r>
            <a:endParaRPr/>
          </a:p>
          <a:p>
            <a:pPr indent="-342900" lvl="0" marL="3429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Non-parametric tests (has no requirements to data)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6" name="Google Shape;176;p9"/>
          <p:cNvSpPr txBox="1"/>
          <p:nvPr/>
        </p:nvSpPr>
        <p:spPr>
          <a:xfrm>
            <a:off x="1897000" y="19047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FFFFE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"/>
          <p:cNvSpPr txBox="1"/>
          <p:nvPr>
            <p:ph type="title"/>
          </p:nvPr>
        </p:nvSpPr>
        <p:spPr>
          <a:xfrm>
            <a:off x="311700" y="67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2" name="Google Shape;182;p2"/>
          <p:cNvSpPr txBox="1"/>
          <p:nvPr>
            <p:ph idx="1" type="body"/>
          </p:nvPr>
        </p:nvSpPr>
        <p:spPr>
          <a:xfrm>
            <a:off x="311700" y="485625"/>
            <a:ext cx="8196300" cy="3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Parametric tests: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t-test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Linear regression</a:t>
            </a:r>
            <a:endParaRPr/>
          </a:p>
          <a:p>
            <a:pPr indent="-285750" lvl="0" marL="28575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Char char="●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Pearson correlation coefficient</a:t>
            </a:r>
            <a:endParaRPr/>
          </a:p>
        </p:txBody>
      </p:sp>
      <p:sp>
        <p:nvSpPr>
          <p:cNvPr id="183" name="Google Shape;183;p2"/>
          <p:cNvSpPr txBox="1"/>
          <p:nvPr/>
        </p:nvSpPr>
        <p:spPr>
          <a:xfrm>
            <a:off x="1897000" y="1904725"/>
            <a:ext cx="3000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highlight>
                <a:srgbClr val="FFFFFE"/>
              </a:highlight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"/>
          <p:cNvSpPr txBox="1"/>
          <p:nvPr>
            <p:ph type="title"/>
          </p:nvPr>
        </p:nvSpPr>
        <p:spPr>
          <a:xfrm>
            <a:off x="311700" y="67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9" name="Google Shape;189;p3"/>
          <p:cNvSpPr txBox="1"/>
          <p:nvPr>
            <p:ph idx="1" type="body"/>
          </p:nvPr>
        </p:nvSpPr>
        <p:spPr>
          <a:xfrm>
            <a:off x="311700" y="485625"/>
            <a:ext cx="8196300" cy="33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Assumptions that parametric tests require are: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Linearity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Normality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Homogeneity of variances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Font typeface="Arial"/>
              <a:buAutoNum type="arabicPeriod"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No outliers in data</a:t>
            </a:r>
            <a:endParaRPr/>
          </a:p>
        </p:txBody>
      </p:sp>
      <p:sp>
        <p:nvSpPr>
          <p:cNvPr id="190" name="Google Shape;190;p3"/>
          <p:cNvSpPr txBox="1"/>
          <p:nvPr/>
        </p:nvSpPr>
        <p:spPr>
          <a:xfrm>
            <a:off x="311700" y="3005591"/>
            <a:ext cx="6488264" cy="7003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talked about them when we described Pearson correlation coefficient 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>
            <p:ph type="title"/>
          </p:nvPr>
        </p:nvSpPr>
        <p:spPr>
          <a:xfrm>
            <a:off x="311700" y="2023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6" name="Google Shape;196;p4"/>
          <p:cNvSpPr txBox="1"/>
          <p:nvPr>
            <p:ph idx="1" type="body"/>
          </p:nvPr>
        </p:nvSpPr>
        <p:spPr>
          <a:xfrm>
            <a:off x="311700" y="687557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T-test: paired and independent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T-test is a statistical test used to compare means of two groups to tell if they are significantly different from each other. There are 3 types of t-tests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 txBox="1"/>
          <p:nvPr/>
        </p:nvSpPr>
        <p:spPr>
          <a:xfrm>
            <a:off x="707667" y="2391323"/>
            <a:ext cx="2417196" cy="383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Paired t-test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3520830" y="2379869"/>
            <a:ext cx="2417196" cy="3837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Independent t-test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9" name="Google Shape;199;p4"/>
          <p:cNvSpPr txBox="1"/>
          <p:nvPr/>
        </p:nvSpPr>
        <p:spPr>
          <a:xfrm>
            <a:off x="442097" y="2916299"/>
            <a:ext cx="2948335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Compares the difference between two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groups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we want to compare anxiety level before the mobilization and after. The group is the same but we did something with it and measure the results after this treatment</a:t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0" name="Google Shape;200;p4"/>
          <p:cNvSpPr txBox="1"/>
          <p:nvPr/>
        </p:nvSpPr>
        <p:spPr>
          <a:xfrm>
            <a:off x="3520829" y="2916300"/>
            <a:ext cx="29484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Compares the difference between two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</a:t>
            </a:r>
            <a:r>
              <a:rPr b="1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dependent</a:t>
            </a: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groups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we want to compare mean income between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males</a:t>
            </a: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and females</a:t>
            </a:r>
            <a:endParaRPr/>
          </a:p>
        </p:txBody>
      </p:sp>
      <p:sp>
        <p:nvSpPr>
          <p:cNvPr id="201" name="Google Shape;201;p4"/>
          <p:cNvSpPr txBox="1"/>
          <p:nvPr/>
        </p:nvSpPr>
        <p:spPr>
          <a:xfrm>
            <a:off x="6445309" y="2337438"/>
            <a:ext cx="45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sample</a:t>
            </a:r>
            <a:r>
              <a:rPr b="1" i="0" lang="en-GB" sz="14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t-test</a:t>
            </a:r>
            <a:endParaRPr b="1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6336916" y="2916299"/>
            <a:ext cx="2948335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Compares the difference between a single group with a know or hypothesized population mean </a:t>
            </a:r>
            <a:endParaRPr/>
          </a:p>
          <a:p>
            <a:pPr indent="-1968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we want to compare life satisfaction index of Saint-Petersburg residents to the national average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9"/>
          <p:cNvSpPr txBox="1"/>
          <p:nvPr>
            <p:ph type="title"/>
          </p:nvPr>
        </p:nvSpPr>
        <p:spPr>
          <a:xfrm>
            <a:off x="311700" y="2023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08" name="Google Shape;208;p49"/>
          <p:cNvSpPr txBox="1"/>
          <p:nvPr>
            <p:ph idx="1" type="body"/>
          </p:nvPr>
        </p:nvSpPr>
        <p:spPr>
          <a:xfrm>
            <a:off x="383262" y="775022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Example of independent t-test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09" name="Google Shape;209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35" y="2751492"/>
            <a:ext cx="7772400" cy="218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4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335" y="1633436"/>
            <a:ext cx="5143500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50"/>
          <p:cNvSpPr txBox="1"/>
          <p:nvPr>
            <p:ph type="title"/>
          </p:nvPr>
        </p:nvSpPr>
        <p:spPr>
          <a:xfrm>
            <a:off x="311700" y="2023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16" name="Google Shape;216;p50"/>
          <p:cNvSpPr txBox="1"/>
          <p:nvPr>
            <p:ph idx="1" type="body"/>
          </p:nvPr>
        </p:nvSpPr>
        <p:spPr>
          <a:xfrm>
            <a:off x="383262" y="775022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Example of an independent t-test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217" name="Google Shape;217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335" y="2751492"/>
            <a:ext cx="7772400" cy="2189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5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8335" y="1633436"/>
            <a:ext cx="5143500" cy="73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1"/>
          <p:cNvSpPr txBox="1"/>
          <p:nvPr>
            <p:ph type="title"/>
          </p:nvPr>
        </p:nvSpPr>
        <p:spPr>
          <a:xfrm>
            <a:off x="311700" y="2023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24" name="Google Shape;224;p51"/>
          <p:cNvSpPr txBox="1"/>
          <p:nvPr/>
        </p:nvSpPr>
        <p:spPr>
          <a:xfrm>
            <a:off x="311700" y="846080"/>
            <a:ext cx="5476850" cy="22950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Chi-Square Test </a:t>
            </a: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is a non-parametric statistical test used to examine relationships between categorical variables. It evaluates whether observed frequencies in a contingency table differ significantly from the expected frequencies under the assumption of independence.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51"/>
          <p:cNvSpPr txBox="1"/>
          <p:nvPr/>
        </p:nvSpPr>
        <p:spPr>
          <a:xfrm>
            <a:off x="496957" y="3340740"/>
            <a:ext cx="4572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H0: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one categorical variables is independent of another one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H1: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One categorical variable is dependent on another one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bbd217b640_0_0"/>
          <p:cNvSpPr txBox="1"/>
          <p:nvPr>
            <p:ph type="title"/>
          </p:nvPr>
        </p:nvSpPr>
        <p:spPr>
          <a:xfrm>
            <a:off x="311700" y="202322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b="1" lang="en-GB" sz="2800">
                <a:latin typeface="Helvetica Neue"/>
                <a:ea typeface="Helvetica Neue"/>
                <a:cs typeface="Helvetica Neue"/>
                <a:sym typeface="Helvetica Neue"/>
              </a:rPr>
              <a:t>Statistical tests</a:t>
            </a:r>
            <a:endParaRPr b="1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1" name="Google Shape;231;g3bbd217b640_0_0"/>
          <p:cNvSpPr txBox="1"/>
          <p:nvPr/>
        </p:nvSpPr>
        <p:spPr>
          <a:xfrm>
            <a:off x="243125" y="674630"/>
            <a:ext cx="547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Chi-Square Test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g3bbd217b640_0_0"/>
          <p:cNvSpPr txBox="1"/>
          <p:nvPr/>
        </p:nvSpPr>
        <p:spPr>
          <a:xfrm>
            <a:off x="243125" y="1534475"/>
            <a:ext cx="3374400" cy="20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Chi-squared test of independence</a:t>
            </a: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tests whether there's a relationship between two categorical variables. </a:t>
            </a:r>
            <a:b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does brand preference depend on gender? </a:t>
            </a:r>
            <a:b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b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Solution</a:t>
            </a: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You build a contingency table and 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 observed frequencies with expected frequencies under the assumption of independence.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3" name="Google Shape;233;g3bbd217b640_0_0"/>
          <p:cNvSpPr txBox="1"/>
          <p:nvPr/>
        </p:nvSpPr>
        <p:spPr>
          <a:xfrm>
            <a:off x="5066375" y="1534475"/>
            <a:ext cx="3000000" cy="136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Chi-squared goodness-of-fit test</a:t>
            </a: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— tests whether the distribution of a single variable matches an expected/theoretical distribution.</a:t>
            </a:r>
            <a:endParaRPr sz="11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b="1"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r>
              <a:rPr lang="en-GB" sz="11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are sales evenly distributed across days of the week?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4" name="Google Shape;234;g3bbd217b640_0_0"/>
          <p:cNvSpPr txBox="1"/>
          <p:nvPr/>
        </p:nvSpPr>
        <p:spPr>
          <a:xfrm>
            <a:off x="243125" y="4217975"/>
            <a:ext cx="3074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χ² = Σ (O − E)² / E</a:t>
            </a:r>
            <a:br>
              <a:rPr lang="en-GB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GB">
                <a:latin typeface="Helvetica Neue"/>
                <a:ea typeface="Helvetica Neue"/>
                <a:cs typeface="Helvetica Neue"/>
                <a:sym typeface="Helvetica Neue"/>
              </a:rPr>
              <a:t>where O = observed, E = expected.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"/>
          <p:cNvSpPr txBox="1"/>
          <p:nvPr>
            <p:ph type="title"/>
          </p:nvPr>
        </p:nvSpPr>
        <p:spPr>
          <a:xfrm>
            <a:off x="165850" y="1061900"/>
            <a:ext cx="4307400" cy="5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3820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1" sz="382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0" name="Google Shape;240;p18"/>
          <p:cNvSpPr txBox="1"/>
          <p:nvPr/>
        </p:nvSpPr>
        <p:spPr>
          <a:xfrm>
            <a:off x="165850" y="2066700"/>
            <a:ext cx="6786000" cy="101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How ANOVA is different from t-tests and what kind of analysis can be done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8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"/>
          <p:cNvSpPr txBox="1"/>
          <p:nvPr>
            <p:ph type="title"/>
          </p:nvPr>
        </p:nvSpPr>
        <p:spPr>
          <a:xfrm>
            <a:off x="342550" y="468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500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1"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7" name="Google Shape;247;p19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8" name="Google Shape;248;p19"/>
          <p:cNvSpPr txBox="1"/>
          <p:nvPr/>
        </p:nvSpPr>
        <p:spPr>
          <a:xfrm>
            <a:off x="165850" y="939079"/>
            <a:ext cx="5728915" cy="42044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is a statistical method used to compare the means of three or more groups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 is parametric, so requires the same assumptions about linearity, normality and h</a:t>
            </a:r>
            <a:r>
              <a:rPr b="0" i="0" lang="en-GB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omogeneity of variances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before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Unlike t-test, it requires an independent variable to have 3 or more levels to test the difference between them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Imagine, you have 3 marital statuses and want to see happiness score across 3 of them (married, widow, single)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2"/>
          <p:cNvSpPr txBox="1"/>
          <p:nvPr>
            <p:ph type="title"/>
          </p:nvPr>
        </p:nvSpPr>
        <p:spPr>
          <a:xfrm>
            <a:off x="342550" y="468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500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1"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4" name="Google Shape;254;p52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5" name="Google Shape;255;p52"/>
          <p:cNvSpPr txBox="1"/>
          <p:nvPr/>
        </p:nvSpPr>
        <p:spPr>
          <a:xfrm>
            <a:off x="165850" y="939079"/>
            <a:ext cx="5728915" cy="3818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is how ANOVA is defined in R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56" name="Google Shape;2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8857" y="1579533"/>
            <a:ext cx="5422900" cy="1130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53"/>
          <p:cNvSpPr txBox="1"/>
          <p:nvPr>
            <p:ph type="title"/>
          </p:nvPr>
        </p:nvSpPr>
        <p:spPr>
          <a:xfrm>
            <a:off x="342550" y="468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500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1"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62" name="Google Shape;262;p53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63" name="Google Shape;263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63363" y="1991446"/>
            <a:ext cx="5556688" cy="3036404"/>
          </a:xfrm>
          <a:prstGeom prst="rect">
            <a:avLst/>
          </a:prstGeom>
          <a:noFill/>
          <a:ln>
            <a:noFill/>
          </a:ln>
        </p:spPr>
      </p:pic>
      <p:sp>
        <p:nvSpPr>
          <p:cNvPr id="264" name="Google Shape;264;p53"/>
          <p:cNvSpPr txBox="1"/>
          <p:nvPr/>
        </p:nvSpPr>
        <p:spPr>
          <a:xfrm>
            <a:off x="280850" y="970205"/>
            <a:ext cx="4206300" cy="132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instance, this is a pairwise comparison of some metric about which we will talk later for different generations 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54"/>
          <p:cNvSpPr txBox="1"/>
          <p:nvPr>
            <p:ph type="title"/>
          </p:nvPr>
        </p:nvSpPr>
        <p:spPr>
          <a:xfrm>
            <a:off x="342550" y="46815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-GB" sz="2500">
                <a:latin typeface="Helvetica Neue"/>
                <a:ea typeface="Helvetica Neue"/>
                <a:cs typeface="Helvetica Neue"/>
                <a:sym typeface="Helvetica Neue"/>
              </a:rPr>
              <a:t>ANOVA</a:t>
            </a:r>
            <a:endParaRPr b="1" sz="2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0" name="Google Shape;270;p54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1" name="Google Shape;271;p54"/>
          <p:cNvSpPr txBox="1"/>
          <p:nvPr/>
        </p:nvSpPr>
        <p:spPr>
          <a:xfrm>
            <a:off x="280850" y="970205"/>
            <a:ext cx="6875324" cy="11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1143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Two-Way ANOVA </a:t>
            </a: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used to examine the effect of two independent categorical variables (factors) on a continuous dependent variable, as well as their interaction effect</a:t>
            </a:r>
            <a:r>
              <a:rPr b="0" i="0" lang="en-GB" sz="2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72" name="Google Shape;27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650" y="2344546"/>
            <a:ext cx="6096000" cy="71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54"/>
          <p:cNvSpPr txBox="1"/>
          <p:nvPr/>
        </p:nvSpPr>
        <p:spPr>
          <a:xfrm>
            <a:off x="464650" y="3538330"/>
            <a:ext cx="456852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GB" sz="1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we talk about main and interaction effects in more detail in the practice part </a:t>
            </a:r>
            <a:endParaRPr b="0" i="0" sz="1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6"/>
          <p:cNvSpPr txBox="1"/>
          <p:nvPr/>
        </p:nvSpPr>
        <p:spPr>
          <a:xfrm>
            <a:off x="165850" y="115650"/>
            <a:ext cx="3346800" cy="3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GB" sz="10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Saint-Petersburg	2025</a:t>
            </a:r>
            <a:endParaRPr b="1" i="0" sz="10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79" name="Google Shape;279;p36"/>
          <p:cNvSpPr txBox="1"/>
          <p:nvPr/>
        </p:nvSpPr>
        <p:spPr>
          <a:xfrm>
            <a:off x="1730400" y="1410300"/>
            <a:ext cx="5683200" cy="19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GB" sz="2800" u="none" cap="none" strike="noStrik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Thank you for attention!</a:t>
            </a:r>
            <a:endParaRPr b="1" i="0" sz="2800" u="none" cap="none" strike="noStrik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80" name="Google Shape;280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08725" y="2116800"/>
            <a:ext cx="25717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